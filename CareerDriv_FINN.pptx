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Montserrat" pitchFamily="2" charset="0"/>
      <p:regular r:id="rId22"/>
      <p:bold r:id="rId23"/>
      <p:italic r:id="rId24"/>
      <p:boldItalic r:id="rId25"/>
    </p:embeddedFont>
    <p:embeddedFont>
      <p:font typeface="Montserrat Bold" pitchFamily="2" charset="0"/>
      <p:regular r:id="rId26"/>
      <p:bold r:id="rId27"/>
    </p:embeddedFont>
    <p:embeddedFont>
      <p:font typeface="Montserrat Heavy" pitchFamily="2" charset="0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3" autoAdjust="0"/>
    <p:restoredTop sz="84487" autoAdjust="0"/>
  </p:normalViewPr>
  <p:slideViewPr>
    <p:cSldViewPr>
      <p:cViewPr varScale="1">
        <p:scale>
          <a:sx n="73" d="100"/>
          <a:sy n="73" d="100"/>
        </p:scale>
        <p:origin x="168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-52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-52"/>
              </a:defRPr>
            </a:lvl1pPr>
          </a:lstStyle>
          <a:p>
            <a:fld id="{9533E7C1-63E7-489C-9DA4-210B00D4C457}" type="datetimeFigureOut">
              <a:rPr lang="ru-RU" smtClean="0"/>
              <a:pPr/>
              <a:t>31.05.2026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-52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-52"/>
              </a:defRPr>
            </a:lvl1pPr>
          </a:lstStyle>
          <a:p>
            <a:fld id="{BA570414-F080-4D47-AB48-5E3CD5B549A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6322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-52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-52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-52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-52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-52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70414-F080-4D47-AB48-5E3CD5B549A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23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70414-F080-4D47-AB48-5E3CD5B549A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594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70414-F080-4D47-AB48-5E3CD5B549A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378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70414-F080-4D47-AB48-5E3CD5B549A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935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UZ" dirty="0"/>
              <a:t>Уменьшить кружочки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70414-F080-4D47-AB48-5E3CD5B549A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620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70414-F080-4D47-AB48-5E3CD5B549A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077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70414-F080-4D47-AB48-5E3CD5B549A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486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70414-F080-4D47-AB48-5E3CD5B549A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477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spc="-244" dirty="0">
              <a:gradFill>
                <a:gsLst>
                  <a:gs pos="0">
                    <a:srgbClr val="7B2D9F">
                      <a:alpha val="100000"/>
                    </a:srgbClr>
                  </a:gs>
                  <a:gs pos="100000">
                    <a:srgbClr val="FDD82E">
                      <a:alpha val="100000"/>
                    </a:srgbClr>
                  </a:gs>
                </a:gsLst>
                <a:lin ang="5400000"/>
              </a:gra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endParaRPr lang="ru-UZ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70414-F080-4D47-AB48-5E3CD5B549A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514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Z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70414-F080-4D47-AB48-5E3CD5B549A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02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70414-F080-4D47-AB48-5E3CD5B549A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9676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70414-F080-4D47-AB48-5E3CD5B549A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21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Z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70414-F080-4D47-AB48-5E3CD5B549A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49633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UZ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70414-F080-4D47-AB48-5E3CD5B549A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1289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70414-F080-4D47-AB48-5E3CD5B549A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1885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fld id="{1D8BD707-D9CF-40AE-B4C6-C98DA3205C09}" type="datetimeFigureOut">
              <a:rPr lang="en-US" smtClean="0"/>
              <a:pPr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-52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3.png"/><Relationship Id="rId10" Type="http://schemas.openxmlformats.org/officeDocument/2006/relationships/image" Target="../media/image19.svg"/><Relationship Id="rId4" Type="http://schemas.openxmlformats.org/officeDocument/2006/relationships/image" Target="../media/image2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380698" y="2327999"/>
            <a:ext cx="6892499" cy="6930301"/>
          </a:xfrm>
          <a:custGeom>
            <a:avLst/>
            <a:gdLst/>
            <a:ahLst/>
            <a:cxnLst/>
            <a:rect l="l" t="t" r="r" b="b"/>
            <a:pathLst>
              <a:path w="6892499" h="6930301">
                <a:moveTo>
                  <a:pt x="6892500" y="0"/>
                </a:moveTo>
                <a:lnTo>
                  <a:pt x="0" y="0"/>
                </a:lnTo>
                <a:lnTo>
                  <a:pt x="0" y="6930301"/>
                </a:lnTo>
                <a:lnTo>
                  <a:pt x="6892500" y="6930301"/>
                </a:lnTo>
                <a:lnTo>
                  <a:pt x="6892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3" name="Freeform 3"/>
          <p:cNvSpPr/>
          <p:nvPr/>
        </p:nvSpPr>
        <p:spPr>
          <a:xfrm flipH="1">
            <a:off x="949763" y="2327999"/>
            <a:ext cx="6892499" cy="6930301"/>
          </a:xfrm>
          <a:custGeom>
            <a:avLst/>
            <a:gdLst/>
            <a:ahLst/>
            <a:cxnLst/>
            <a:rect l="l" t="t" r="r" b="b"/>
            <a:pathLst>
              <a:path w="6892499" h="6930301">
                <a:moveTo>
                  <a:pt x="6892499" y="0"/>
                </a:moveTo>
                <a:lnTo>
                  <a:pt x="0" y="0"/>
                </a:lnTo>
                <a:lnTo>
                  <a:pt x="0" y="6930301"/>
                </a:lnTo>
                <a:lnTo>
                  <a:pt x="6892499" y="6930301"/>
                </a:lnTo>
                <a:lnTo>
                  <a:pt x="689249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045191" y="4367286"/>
            <a:ext cx="9387591" cy="2262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512"/>
              </a:lnSpc>
              <a:spcBef>
                <a:spcPct val="0"/>
              </a:spcBef>
            </a:pPr>
            <a:r>
              <a:rPr lang="en-US" sz="13223" b="1" spc="-80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CareerDrive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57982" y="3984764"/>
            <a:ext cx="9387663" cy="730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3"/>
              </a:lnSpc>
            </a:pPr>
            <a:r>
              <a:rPr lang="en-US" sz="2477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 Design Mastery through Mindful practice, Expert guidance, and Powerful networking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057982" y="6738243"/>
            <a:ext cx="9387663" cy="630140"/>
            <a:chOff x="0" y="0"/>
            <a:chExt cx="2222893" cy="1492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22893" cy="149210"/>
            </a:xfrm>
            <a:custGeom>
              <a:avLst/>
              <a:gdLst/>
              <a:ahLst/>
              <a:cxnLst/>
              <a:rect l="l" t="t" r="r" b="b"/>
              <a:pathLst>
                <a:path w="2222893" h="149210">
                  <a:moveTo>
                    <a:pt x="74605" y="0"/>
                  </a:moveTo>
                  <a:lnTo>
                    <a:pt x="2148288" y="0"/>
                  </a:lnTo>
                  <a:cubicBezTo>
                    <a:pt x="2189492" y="0"/>
                    <a:pt x="2222893" y="33402"/>
                    <a:pt x="2222893" y="74605"/>
                  </a:cubicBezTo>
                  <a:lnTo>
                    <a:pt x="2222893" y="74605"/>
                  </a:lnTo>
                  <a:cubicBezTo>
                    <a:pt x="2222893" y="115808"/>
                    <a:pt x="2189492" y="149210"/>
                    <a:pt x="2148288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18FF"/>
            </a:solidFill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22893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057982" y="6869192"/>
            <a:ext cx="9387663" cy="368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3"/>
              </a:lnSpc>
            </a:pPr>
            <a:r>
              <a:rPr lang="en-US" sz="2477" b="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 to Find Your Path and Fuel Your Future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752557"/>
            <a:ext cx="2334520" cy="566532"/>
            <a:chOff x="0" y="0"/>
            <a:chExt cx="614853" cy="1492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14853" cy="149210"/>
            </a:xfrm>
            <a:custGeom>
              <a:avLst/>
              <a:gdLst/>
              <a:ahLst/>
              <a:cxnLst/>
              <a:rect l="l" t="t" r="r" b="b"/>
              <a:pathLst>
                <a:path w="614853" h="149210">
                  <a:moveTo>
                    <a:pt x="74605" y="0"/>
                  </a:moveTo>
                  <a:lnTo>
                    <a:pt x="540248" y="0"/>
                  </a:lnTo>
                  <a:cubicBezTo>
                    <a:pt x="581451" y="0"/>
                    <a:pt x="614853" y="33402"/>
                    <a:pt x="614853" y="74605"/>
                  </a:cubicBezTo>
                  <a:lnTo>
                    <a:pt x="614853" y="74605"/>
                  </a:lnTo>
                  <a:cubicBezTo>
                    <a:pt x="614853" y="115808"/>
                    <a:pt x="581451" y="149210"/>
                    <a:pt x="540248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18FF"/>
            </a:solidFill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14853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58983" y="856435"/>
            <a:ext cx="1673954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CareerDrive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56884" y="846910"/>
            <a:ext cx="7302416" cy="37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88"/>
              </a:lnSpc>
              <a:spcBef>
                <a:spcPct val="0"/>
              </a:spcBef>
            </a:pPr>
            <a:r>
              <a:rPr lang="en-US" sz="2206" b="1" spc="4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Find Your Path and Fuel Your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31070" y="1583225"/>
            <a:ext cx="14717643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243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Diploma is a powerful startup asset, while modern career is about ability to manage professional trajectory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752557"/>
            <a:ext cx="2334520" cy="566532"/>
            <a:chOff x="0" y="0"/>
            <a:chExt cx="614853" cy="1492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4853" cy="149210"/>
            </a:xfrm>
            <a:custGeom>
              <a:avLst/>
              <a:gdLst/>
              <a:ahLst/>
              <a:cxnLst/>
              <a:rect l="l" t="t" r="r" b="b"/>
              <a:pathLst>
                <a:path w="614853" h="149210">
                  <a:moveTo>
                    <a:pt x="74605" y="0"/>
                  </a:moveTo>
                  <a:lnTo>
                    <a:pt x="540248" y="0"/>
                  </a:lnTo>
                  <a:cubicBezTo>
                    <a:pt x="581451" y="0"/>
                    <a:pt x="614853" y="33402"/>
                    <a:pt x="614853" y="74605"/>
                  </a:cubicBezTo>
                  <a:lnTo>
                    <a:pt x="614853" y="74605"/>
                  </a:lnTo>
                  <a:cubicBezTo>
                    <a:pt x="614853" y="115808"/>
                    <a:pt x="581451" y="149210"/>
                    <a:pt x="540248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18FF"/>
            </a:solidFill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4853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58983" y="856435"/>
            <a:ext cx="1673954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CareerDrive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56884" y="846910"/>
            <a:ext cx="7302416" cy="37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88"/>
              </a:lnSpc>
              <a:spcBef>
                <a:spcPct val="0"/>
              </a:spcBef>
            </a:pPr>
            <a:r>
              <a:rPr lang="en-US" sz="2206" b="1" spc="4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Find Your Path and Fuel Your Future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262667" y="3131145"/>
            <a:ext cx="1985606" cy="1996496"/>
          </a:xfrm>
          <a:custGeom>
            <a:avLst/>
            <a:gdLst/>
            <a:ahLst/>
            <a:cxnLst/>
            <a:rect l="l" t="t" r="r" b="b"/>
            <a:pathLst>
              <a:path w="1985606" h="1996496">
                <a:moveTo>
                  <a:pt x="1985607" y="0"/>
                </a:moveTo>
                <a:lnTo>
                  <a:pt x="0" y="0"/>
                </a:lnTo>
                <a:lnTo>
                  <a:pt x="0" y="1996497"/>
                </a:lnTo>
                <a:lnTo>
                  <a:pt x="1985607" y="1996497"/>
                </a:lnTo>
                <a:lnTo>
                  <a:pt x="198560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2195960" y="3424725"/>
            <a:ext cx="4469222" cy="5005952"/>
            <a:chOff x="0" y="0"/>
            <a:chExt cx="1177079" cy="13184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77079" cy="1318440"/>
            </a:xfrm>
            <a:custGeom>
              <a:avLst/>
              <a:gdLst/>
              <a:ahLst/>
              <a:cxnLst/>
              <a:rect l="l" t="t" r="r" b="b"/>
              <a:pathLst>
                <a:path w="1177079" h="1318440">
                  <a:moveTo>
                    <a:pt x="88346" y="0"/>
                  </a:moveTo>
                  <a:lnTo>
                    <a:pt x="1088733" y="0"/>
                  </a:lnTo>
                  <a:cubicBezTo>
                    <a:pt x="1112164" y="0"/>
                    <a:pt x="1134635" y="9308"/>
                    <a:pt x="1151203" y="25876"/>
                  </a:cubicBezTo>
                  <a:cubicBezTo>
                    <a:pt x="1167771" y="42444"/>
                    <a:pt x="1177079" y="64915"/>
                    <a:pt x="1177079" y="88346"/>
                  </a:cubicBezTo>
                  <a:lnTo>
                    <a:pt x="1177079" y="1230094"/>
                  </a:lnTo>
                  <a:cubicBezTo>
                    <a:pt x="1177079" y="1253525"/>
                    <a:pt x="1167771" y="1275996"/>
                    <a:pt x="1151203" y="1292564"/>
                  </a:cubicBezTo>
                  <a:cubicBezTo>
                    <a:pt x="1134635" y="1309132"/>
                    <a:pt x="1112164" y="1318440"/>
                    <a:pt x="1088733" y="1318440"/>
                  </a:cubicBezTo>
                  <a:lnTo>
                    <a:pt x="88346" y="1318440"/>
                  </a:lnTo>
                  <a:cubicBezTo>
                    <a:pt x="64915" y="1318440"/>
                    <a:pt x="42444" y="1309132"/>
                    <a:pt x="25876" y="1292564"/>
                  </a:cubicBezTo>
                  <a:cubicBezTo>
                    <a:pt x="9308" y="1275996"/>
                    <a:pt x="0" y="1253525"/>
                    <a:pt x="0" y="1230094"/>
                  </a:cubicBezTo>
                  <a:lnTo>
                    <a:pt x="0" y="88346"/>
                  </a:lnTo>
                  <a:cubicBezTo>
                    <a:pt x="0" y="64915"/>
                    <a:pt x="9308" y="42444"/>
                    <a:pt x="25876" y="25876"/>
                  </a:cubicBezTo>
                  <a:cubicBezTo>
                    <a:pt x="42444" y="9308"/>
                    <a:pt x="64915" y="0"/>
                    <a:pt x="88346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77079" cy="1356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31882" y="3424725"/>
            <a:ext cx="4469222" cy="5005952"/>
            <a:chOff x="0" y="0"/>
            <a:chExt cx="1177079" cy="13184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77079" cy="1318440"/>
            </a:xfrm>
            <a:custGeom>
              <a:avLst/>
              <a:gdLst/>
              <a:ahLst/>
              <a:cxnLst/>
              <a:rect l="l" t="t" r="r" b="b"/>
              <a:pathLst>
                <a:path w="1177079" h="1318440">
                  <a:moveTo>
                    <a:pt x="88346" y="0"/>
                  </a:moveTo>
                  <a:lnTo>
                    <a:pt x="1088733" y="0"/>
                  </a:lnTo>
                  <a:cubicBezTo>
                    <a:pt x="1112164" y="0"/>
                    <a:pt x="1134635" y="9308"/>
                    <a:pt x="1151203" y="25876"/>
                  </a:cubicBezTo>
                  <a:cubicBezTo>
                    <a:pt x="1167771" y="42444"/>
                    <a:pt x="1177079" y="64915"/>
                    <a:pt x="1177079" y="88346"/>
                  </a:cubicBezTo>
                  <a:lnTo>
                    <a:pt x="1177079" y="1230094"/>
                  </a:lnTo>
                  <a:cubicBezTo>
                    <a:pt x="1177079" y="1253525"/>
                    <a:pt x="1167771" y="1275996"/>
                    <a:pt x="1151203" y="1292564"/>
                  </a:cubicBezTo>
                  <a:cubicBezTo>
                    <a:pt x="1134635" y="1309132"/>
                    <a:pt x="1112164" y="1318440"/>
                    <a:pt x="1088733" y="1318440"/>
                  </a:cubicBezTo>
                  <a:lnTo>
                    <a:pt x="88346" y="1318440"/>
                  </a:lnTo>
                  <a:cubicBezTo>
                    <a:pt x="64915" y="1318440"/>
                    <a:pt x="42444" y="1309132"/>
                    <a:pt x="25876" y="1292564"/>
                  </a:cubicBezTo>
                  <a:cubicBezTo>
                    <a:pt x="9308" y="1275996"/>
                    <a:pt x="0" y="1253525"/>
                    <a:pt x="0" y="1230094"/>
                  </a:cubicBezTo>
                  <a:lnTo>
                    <a:pt x="0" y="88346"/>
                  </a:lnTo>
                  <a:cubicBezTo>
                    <a:pt x="0" y="64915"/>
                    <a:pt x="9308" y="42444"/>
                    <a:pt x="25876" y="25876"/>
                  </a:cubicBezTo>
                  <a:cubicBezTo>
                    <a:pt x="42444" y="9308"/>
                    <a:pt x="64915" y="0"/>
                    <a:pt x="88346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77079" cy="1356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667804" y="3424725"/>
            <a:ext cx="4469222" cy="5005952"/>
            <a:chOff x="0" y="0"/>
            <a:chExt cx="1177079" cy="13184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77079" cy="1318440"/>
            </a:xfrm>
            <a:custGeom>
              <a:avLst/>
              <a:gdLst/>
              <a:ahLst/>
              <a:cxnLst/>
              <a:rect l="l" t="t" r="r" b="b"/>
              <a:pathLst>
                <a:path w="1177079" h="1318440">
                  <a:moveTo>
                    <a:pt x="88346" y="0"/>
                  </a:moveTo>
                  <a:lnTo>
                    <a:pt x="1088733" y="0"/>
                  </a:lnTo>
                  <a:cubicBezTo>
                    <a:pt x="1112164" y="0"/>
                    <a:pt x="1134635" y="9308"/>
                    <a:pt x="1151203" y="25876"/>
                  </a:cubicBezTo>
                  <a:cubicBezTo>
                    <a:pt x="1167771" y="42444"/>
                    <a:pt x="1177079" y="64915"/>
                    <a:pt x="1177079" y="88346"/>
                  </a:cubicBezTo>
                  <a:lnTo>
                    <a:pt x="1177079" y="1230094"/>
                  </a:lnTo>
                  <a:cubicBezTo>
                    <a:pt x="1177079" y="1253525"/>
                    <a:pt x="1167771" y="1275996"/>
                    <a:pt x="1151203" y="1292564"/>
                  </a:cubicBezTo>
                  <a:cubicBezTo>
                    <a:pt x="1134635" y="1309132"/>
                    <a:pt x="1112164" y="1318440"/>
                    <a:pt x="1088733" y="1318440"/>
                  </a:cubicBezTo>
                  <a:lnTo>
                    <a:pt x="88346" y="1318440"/>
                  </a:lnTo>
                  <a:cubicBezTo>
                    <a:pt x="64915" y="1318440"/>
                    <a:pt x="42444" y="1309132"/>
                    <a:pt x="25876" y="1292564"/>
                  </a:cubicBezTo>
                  <a:cubicBezTo>
                    <a:pt x="9308" y="1275996"/>
                    <a:pt x="0" y="1253525"/>
                    <a:pt x="0" y="1230094"/>
                  </a:cubicBezTo>
                  <a:lnTo>
                    <a:pt x="0" y="88346"/>
                  </a:lnTo>
                  <a:cubicBezTo>
                    <a:pt x="0" y="64915"/>
                    <a:pt x="9308" y="42444"/>
                    <a:pt x="25876" y="25876"/>
                  </a:cubicBezTo>
                  <a:cubicBezTo>
                    <a:pt x="42444" y="9308"/>
                    <a:pt x="64915" y="0"/>
                    <a:pt x="88346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77079" cy="1356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195960" y="8780980"/>
            <a:ext cx="14000893" cy="1149729"/>
            <a:chOff x="0" y="0"/>
            <a:chExt cx="3687478" cy="3028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87478" cy="302809"/>
            </a:xfrm>
            <a:custGeom>
              <a:avLst/>
              <a:gdLst/>
              <a:ahLst/>
              <a:cxnLst/>
              <a:rect l="l" t="t" r="r" b="b"/>
              <a:pathLst>
                <a:path w="3687478" h="302809">
                  <a:moveTo>
                    <a:pt x="28201" y="0"/>
                  </a:moveTo>
                  <a:lnTo>
                    <a:pt x="3659277" y="0"/>
                  </a:lnTo>
                  <a:cubicBezTo>
                    <a:pt x="3666756" y="0"/>
                    <a:pt x="3673930" y="2971"/>
                    <a:pt x="3679218" y="8260"/>
                  </a:cubicBezTo>
                  <a:cubicBezTo>
                    <a:pt x="3684507" y="13549"/>
                    <a:pt x="3687478" y="20722"/>
                    <a:pt x="3687478" y="28201"/>
                  </a:cubicBezTo>
                  <a:lnTo>
                    <a:pt x="3687478" y="274609"/>
                  </a:lnTo>
                  <a:cubicBezTo>
                    <a:pt x="3687478" y="282088"/>
                    <a:pt x="3684507" y="289261"/>
                    <a:pt x="3679218" y="294550"/>
                  </a:cubicBezTo>
                  <a:cubicBezTo>
                    <a:pt x="3673930" y="299838"/>
                    <a:pt x="3666756" y="302809"/>
                    <a:pt x="3659277" y="302809"/>
                  </a:cubicBezTo>
                  <a:lnTo>
                    <a:pt x="28201" y="302809"/>
                  </a:lnTo>
                  <a:cubicBezTo>
                    <a:pt x="20722" y="302809"/>
                    <a:pt x="13549" y="299838"/>
                    <a:pt x="8260" y="294550"/>
                  </a:cubicBezTo>
                  <a:cubicBezTo>
                    <a:pt x="2971" y="289261"/>
                    <a:pt x="0" y="282088"/>
                    <a:pt x="0" y="274609"/>
                  </a:cubicBezTo>
                  <a:lnTo>
                    <a:pt x="0" y="28201"/>
                  </a:lnTo>
                  <a:cubicBezTo>
                    <a:pt x="0" y="20722"/>
                    <a:pt x="2971" y="13549"/>
                    <a:pt x="8260" y="8260"/>
                  </a:cubicBezTo>
                  <a:cubicBezTo>
                    <a:pt x="13549" y="2971"/>
                    <a:pt x="20722" y="0"/>
                    <a:pt x="28201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687478" cy="340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21" name="Freeform 21"/>
          <p:cNvSpPr/>
          <p:nvPr/>
        </p:nvSpPr>
        <p:spPr>
          <a:xfrm flipH="1">
            <a:off x="995026" y="3131145"/>
            <a:ext cx="1985606" cy="1996496"/>
          </a:xfrm>
          <a:custGeom>
            <a:avLst/>
            <a:gdLst/>
            <a:ahLst/>
            <a:cxnLst/>
            <a:rect l="l" t="t" r="r" b="b"/>
            <a:pathLst>
              <a:path w="1985606" h="1996496">
                <a:moveTo>
                  <a:pt x="1985606" y="0"/>
                </a:moveTo>
                <a:lnTo>
                  <a:pt x="0" y="0"/>
                </a:lnTo>
                <a:lnTo>
                  <a:pt x="0" y="1996497"/>
                </a:lnTo>
                <a:lnTo>
                  <a:pt x="1985606" y="1996497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623492" y="3784724"/>
            <a:ext cx="3614157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499" b="1" spc="4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High Mobility of Labor Market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91753" y="3784724"/>
            <a:ext cx="3614157" cy="126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499" b="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Profession reduction and Transformation due to AI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068266" y="3784724"/>
            <a:ext cx="3668300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499" b="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Degree is a launchpad not a limit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85299" y="5333140"/>
            <a:ext cx="4290545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Average person holds about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27983" y="5656945"/>
            <a:ext cx="4048375" cy="270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34"/>
              </a:lnSpc>
            </a:pPr>
            <a:r>
              <a:rPr lang="en-US" sz="203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Jobs vanishing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76358" y="5384951"/>
            <a:ext cx="1353664" cy="660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1"/>
              </a:lnSpc>
            </a:pPr>
            <a:r>
              <a:rPr lang="en-US" sz="500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15%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76358" y="6769879"/>
            <a:ext cx="1311478" cy="660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1"/>
              </a:lnSpc>
            </a:pPr>
            <a:r>
              <a:rPr lang="en-US" sz="500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25%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081646" y="7090574"/>
            <a:ext cx="2671953" cy="256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203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Jobs transformation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941284" y="5399815"/>
            <a:ext cx="3922262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0"/>
              </a:lnSpc>
            </a:pPr>
            <a:r>
              <a:rPr lang="en-US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Jobs “related" to field of study (bachelors, 4 yrs after grad)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202983" y="6614749"/>
            <a:ext cx="1427417" cy="660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46%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005691" y="5864301"/>
            <a:ext cx="2849760" cy="66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664935" y="9019105"/>
            <a:ext cx="12958129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700" spc="1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Program equips you with Career Self-Management Skills to make strategic choices and thrive through inevitable transitions.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285299" y="6597445"/>
            <a:ext cx="4290545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different jobs in lifetime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U.S. Bureau of Labor Statistics (BLS)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081647" y="6083491"/>
            <a:ext cx="4048375" cy="270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34"/>
              </a:lnSpc>
            </a:pPr>
            <a:r>
              <a:rPr lang="en-US" sz="203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by 2027, OECD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256536" y="7468419"/>
            <a:ext cx="1831300" cy="270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203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2030, WEF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001796" y="7360874"/>
            <a:ext cx="3801238" cy="32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0"/>
              </a:lnSpc>
            </a:pPr>
            <a:r>
              <a:rPr lang="en-US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NCES, USA, 2020</a:t>
            </a:r>
          </a:p>
        </p:txBody>
      </p:sp>
      <p:sp>
        <p:nvSpPr>
          <p:cNvPr id="38" name="Freeform 33">
            <a:extLst>
              <a:ext uri="{FF2B5EF4-FFF2-40B4-BE49-F238E27FC236}">
                <a16:creationId xmlns:a16="http://schemas.microsoft.com/office/drawing/2014/main" id="{0B003205-1360-C72F-841B-5F6C741F969F}"/>
              </a:ext>
            </a:extLst>
          </p:cNvPr>
          <p:cNvSpPr/>
          <p:nvPr/>
        </p:nvSpPr>
        <p:spPr>
          <a:xfrm flipH="1">
            <a:off x="15925800" y="3086100"/>
            <a:ext cx="2175010" cy="2186939"/>
          </a:xfrm>
          <a:custGeom>
            <a:avLst/>
            <a:gdLst/>
            <a:ahLst/>
            <a:cxnLst/>
            <a:rect l="l" t="t" r="r" b="b"/>
            <a:pathLst>
              <a:path w="2175010" h="2186939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533C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401" y="1681039"/>
            <a:ext cx="12909771" cy="1374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-243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Building a Career Self-Management Skills means to have life-long dynamic capability that helps</a:t>
            </a:r>
          </a:p>
        </p:txBody>
      </p:sp>
      <p:sp>
        <p:nvSpPr>
          <p:cNvPr id="3" name="Freeform 3"/>
          <p:cNvSpPr/>
          <p:nvPr/>
        </p:nvSpPr>
        <p:spPr>
          <a:xfrm>
            <a:off x="14326180" y="2950500"/>
            <a:ext cx="6713643" cy="6750464"/>
          </a:xfrm>
          <a:custGeom>
            <a:avLst/>
            <a:gdLst/>
            <a:ahLst/>
            <a:cxnLst/>
            <a:rect l="l" t="t" r="r" b="b"/>
            <a:pathLst>
              <a:path w="6713643" h="6750464">
                <a:moveTo>
                  <a:pt x="0" y="0"/>
                </a:moveTo>
                <a:lnTo>
                  <a:pt x="6713643" y="0"/>
                </a:lnTo>
                <a:lnTo>
                  <a:pt x="6713643" y="6750464"/>
                </a:lnTo>
                <a:lnTo>
                  <a:pt x="0" y="67504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070111" y="2950500"/>
            <a:ext cx="6713643" cy="6750464"/>
          </a:xfrm>
          <a:custGeom>
            <a:avLst/>
            <a:gdLst/>
            <a:ahLst/>
            <a:cxnLst/>
            <a:rect l="l" t="t" r="r" b="b"/>
            <a:pathLst>
              <a:path w="6713643" h="6750464">
                <a:moveTo>
                  <a:pt x="0" y="0"/>
                </a:moveTo>
                <a:lnTo>
                  <a:pt x="6713644" y="0"/>
                </a:lnTo>
                <a:lnTo>
                  <a:pt x="6713644" y="6750464"/>
                </a:lnTo>
                <a:lnTo>
                  <a:pt x="0" y="67504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028700" y="752557"/>
            <a:ext cx="2334520" cy="566532"/>
            <a:chOff x="0" y="0"/>
            <a:chExt cx="614853" cy="1492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14853" cy="149210"/>
            </a:xfrm>
            <a:custGeom>
              <a:avLst/>
              <a:gdLst/>
              <a:ahLst/>
              <a:cxnLst/>
              <a:rect l="l" t="t" r="r" b="b"/>
              <a:pathLst>
                <a:path w="614853" h="149210">
                  <a:moveTo>
                    <a:pt x="74605" y="0"/>
                  </a:moveTo>
                  <a:lnTo>
                    <a:pt x="540248" y="0"/>
                  </a:lnTo>
                  <a:cubicBezTo>
                    <a:pt x="581451" y="0"/>
                    <a:pt x="614853" y="33402"/>
                    <a:pt x="614853" y="74605"/>
                  </a:cubicBezTo>
                  <a:lnTo>
                    <a:pt x="614853" y="74605"/>
                  </a:lnTo>
                  <a:cubicBezTo>
                    <a:pt x="614853" y="115808"/>
                    <a:pt x="581451" y="149210"/>
                    <a:pt x="540248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18FF"/>
            </a:solidFill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14853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1411303" y="3826436"/>
            <a:ext cx="1020252" cy="987093"/>
          </a:xfrm>
          <a:custGeom>
            <a:avLst/>
            <a:gdLst/>
            <a:ahLst/>
            <a:cxnLst/>
            <a:rect l="l" t="t" r="r" b="b"/>
            <a:pathLst>
              <a:path w="1020252" h="987093">
                <a:moveTo>
                  <a:pt x="0" y="0"/>
                </a:moveTo>
                <a:lnTo>
                  <a:pt x="1020252" y="0"/>
                </a:lnTo>
                <a:lnTo>
                  <a:pt x="1020252" y="987094"/>
                </a:lnTo>
                <a:lnTo>
                  <a:pt x="0" y="9870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358983" y="5239998"/>
            <a:ext cx="1124893" cy="987093"/>
          </a:xfrm>
          <a:custGeom>
            <a:avLst/>
            <a:gdLst/>
            <a:ahLst/>
            <a:cxnLst/>
            <a:rect l="l" t="t" r="r" b="b"/>
            <a:pathLst>
              <a:path w="1124893" h="987093">
                <a:moveTo>
                  <a:pt x="0" y="0"/>
                </a:moveTo>
                <a:lnTo>
                  <a:pt x="1124893" y="0"/>
                </a:lnTo>
                <a:lnTo>
                  <a:pt x="1124893" y="987093"/>
                </a:lnTo>
                <a:lnTo>
                  <a:pt x="0" y="9870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441692" y="6789066"/>
            <a:ext cx="959475" cy="959475"/>
          </a:xfrm>
          <a:custGeom>
            <a:avLst/>
            <a:gdLst/>
            <a:ahLst/>
            <a:cxnLst/>
            <a:rect l="l" t="t" r="r" b="b"/>
            <a:pathLst>
              <a:path w="959475" h="959475">
                <a:moveTo>
                  <a:pt x="0" y="0"/>
                </a:moveTo>
                <a:lnTo>
                  <a:pt x="959475" y="0"/>
                </a:lnTo>
                <a:lnTo>
                  <a:pt x="959475" y="959475"/>
                </a:lnTo>
                <a:lnTo>
                  <a:pt x="0" y="9594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441692" y="8310516"/>
            <a:ext cx="941670" cy="952384"/>
          </a:xfrm>
          <a:custGeom>
            <a:avLst/>
            <a:gdLst/>
            <a:ahLst/>
            <a:cxnLst/>
            <a:rect l="l" t="t" r="r" b="b"/>
            <a:pathLst>
              <a:path w="941670" h="952384">
                <a:moveTo>
                  <a:pt x="0" y="0"/>
                </a:moveTo>
                <a:lnTo>
                  <a:pt x="941670" y="0"/>
                </a:lnTo>
                <a:lnTo>
                  <a:pt x="941670" y="952385"/>
                </a:lnTo>
                <a:lnTo>
                  <a:pt x="0" y="9523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805766" y="3862264"/>
            <a:ext cx="714900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-18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Make mindful career choices, 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-18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not random ones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05766" y="5277982"/>
            <a:ext cx="714900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-1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Adapt quickly to transitions and turbulence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05766" y="6693701"/>
            <a:ext cx="714900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-18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Stay employable and resilient across changing economic conditions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05766" y="8109419"/>
            <a:ext cx="714900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-1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Align work with personal values and goals in an evolving labor market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8983" y="856435"/>
            <a:ext cx="1673954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CareerDrive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56884" y="846910"/>
            <a:ext cx="7302416" cy="37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88"/>
              </a:lnSpc>
              <a:spcBef>
                <a:spcPct val="0"/>
              </a:spcBef>
            </a:pPr>
            <a:r>
              <a:rPr lang="en-US" sz="2206" b="1" spc="4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Find Your Path and Fuel Your Future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533C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379563"/>
            <a:ext cx="6774787" cy="6075937"/>
            <a:chOff x="0" y="0"/>
            <a:chExt cx="5932386" cy="53204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32386" cy="5320434"/>
            </a:xfrm>
            <a:custGeom>
              <a:avLst/>
              <a:gdLst/>
              <a:ahLst/>
              <a:cxnLst/>
              <a:rect l="l" t="t" r="r" b="b"/>
              <a:pathLst>
                <a:path w="5932386" h="5320434">
                  <a:moveTo>
                    <a:pt x="5932386" y="522467"/>
                  </a:moveTo>
                  <a:lnTo>
                    <a:pt x="5932386" y="2213300"/>
                  </a:lnTo>
                  <a:cubicBezTo>
                    <a:pt x="5932386" y="2364401"/>
                    <a:pt x="5818795" y="2508052"/>
                    <a:pt x="5622759" y="2608077"/>
                  </a:cubicBezTo>
                  <a:cubicBezTo>
                    <a:pt x="5426722" y="2707037"/>
                    <a:pt x="5313132" y="2850688"/>
                    <a:pt x="5313132" y="3002853"/>
                  </a:cubicBezTo>
                  <a:lnTo>
                    <a:pt x="5313132" y="4797967"/>
                  </a:lnTo>
                  <a:cubicBezTo>
                    <a:pt x="5313132" y="5086334"/>
                    <a:pt x="4910067" y="5320434"/>
                    <a:pt x="4413563" y="5320434"/>
                  </a:cubicBezTo>
                  <a:lnTo>
                    <a:pt x="899568" y="5320434"/>
                  </a:lnTo>
                  <a:cubicBezTo>
                    <a:pt x="403065" y="5320434"/>
                    <a:pt x="0" y="5086334"/>
                    <a:pt x="0" y="4797967"/>
                  </a:cubicBezTo>
                  <a:lnTo>
                    <a:pt x="0" y="522467"/>
                  </a:lnTo>
                  <a:cubicBezTo>
                    <a:pt x="0" y="234099"/>
                    <a:pt x="403065" y="0"/>
                    <a:pt x="899568" y="0"/>
                  </a:cubicBezTo>
                  <a:lnTo>
                    <a:pt x="5034650" y="0"/>
                  </a:lnTo>
                  <a:cubicBezTo>
                    <a:pt x="5531153" y="0"/>
                    <a:pt x="5932386" y="234099"/>
                    <a:pt x="5932386" y="522467"/>
                  </a:cubicBezTo>
                  <a:lnTo>
                    <a:pt x="0" y="0"/>
                  </a:lnTo>
                  <a:cubicBezTo>
                    <a:pt x="0" y="0"/>
                    <a:pt x="5932386" y="522467"/>
                    <a:pt x="5932386" y="522467"/>
                  </a:cubicBezTo>
                  <a:close/>
                </a:path>
              </a:pathLst>
            </a:custGeom>
            <a:blipFill>
              <a:blip r:embed="rId3"/>
              <a:stretch>
                <a:fillRect t="-2376" b="-25378"/>
              </a:stretch>
            </a:blipFill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658600" y="7734300"/>
            <a:ext cx="2319897" cy="2153613"/>
            <a:chOff x="0" y="0"/>
            <a:chExt cx="611002" cy="5672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1002" cy="567207"/>
            </a:xfrm>
            <a:custGeom>
              <a:avLst/>
              <a:gdLst/>
              <a:ahLst/>
              <a:cxnLst/>
              <a:rect l="l" t="t" r="r" b="b"/>
              <a:pathLst>
                <a:path w="611002" h="567207">
                  <a:moveTo>
                    <a:pt x="170196" y="0"/>
                  </a:moveTo>
                  <a:lnTo>
                    <a:pt x="440805" y="0"/>
                  </a:lnTo>
                  <a:cubicBezTo>
                    <a:pt x="534802" y="0"/>
                    <a:pt x="611002" y="76199"/>
                    <a:pt x="611002" y="170196"/>
                  </a:cubicBezTo>
                  <a:lnTo>
                    <a:pt x="611002" y="397010"/>
                  </a:lnTo>
                  <a:cubicBezTo>
                    <a:pt x="611002" y="491007"/>
                    <a:pt x="534802" y="567207"/>
                    <a:pt x="440805" y="567207"/>
                  </a:cubicBezTo>
                  <a:lnTo>
                    <a:pt x="170196" y="567207"/>
                  </a:lnTo>
                  <a:cubicBezTo>
                    <a:pt x="76199" y="567207"/>
                    <a:pt x="0" y="491007"/>
                    <a:pt x="0" y="397010"/>
                  </a:cubicBezTo>
                  <a:lnTo>
                    <a:pt x="0" y="170196"/>
                  </a:lnTo>
                  <a:cubicBezTo>
                    <a:pt x="0" y="76199"/>
                    <a:pt x="76199" y="0"/>
                    <a:pt x="170196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611002" cy="662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16445554" y="7658100"/>
            <a:ext cx="2621765" cy="2636144"/>
          </a:xfrm>
          <a:custGeom>
            <a:avLst/>
            <a:gdLst/>
            <a:ahLst/>
            <a:cxnLst/>
            <a:rect l="l" t="t" r="r" b="b"/>
            <a:pathLst>
              <a:path w="2621765" h="2636144">
                <a:moveTo>
                  <a:pt x="0" y="0"/>
                </a:moveTo>
                <a:lnTo>
                  <a:pt x="2621764" y="0"/>
                </a:lnTo>
                <a:lnTo>
                  <a:pt x="2621764" y="2636144"/>
                </a:lnTo>
                <a:lnTo>
                  <a:pt x="0" y="2636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4783503" y="7658100"/>
            <a:ext cx="2621765" cy="2636144"/>
          </a:xfrm>
          <a:custGeom>
            <a:avLst/>
            <a:gdLst/>
            <a:ahLst/>
            <a:cxnLst/>
            <a:rect l="l" t="t" r="r" b="b"/>
            <a:pathLst>
              <a:path w="2621765" h="2636144">
                <a:moveTo>
                  <a:pt x="0" y="0"/>
                </a:moveTo>
                <a:lnTo>
                  <a:pt x="2621765" y="0"/>
                </a:lnTo>
                <a:lnTo>
                  <a:pt x="2621765" y="2636144"/>
                </a:lnTo>
                <a:lnTo>
                  <a:pt x="0" y="2636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6293310" y="6181653"/>
            <a:ext cx="1510177" cy="151017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8FF"/>
            </a:solidFill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440111" y="2513390"/>
            <a:ext cx="9067090" cy="3925510"/>
            <a:chOff x="0" y="0"/>
            <a:chExt cx="2388040" cy="103387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88040" cy="1033879"/>
            </a:xfrm>
            <a:custGeom>
              <a:avLst/>
              <a:gdLst/>
              <a:ahLst/>
              <a:cxnLst/>
              <a:rect l="l" t="t" r="r" b="b"/>
              <a:pathLst>
                <a:path w="2388040" h="1033879">
                  <a:moveTo>
                    <a:pt x="43546" y="0"/>
                  </a:moveTo>
                  <a:lnTo>
                    <a:pt x="2344494" y="0"/>
                  </a:lnTo>
                  <a:cubicBezTo>
                    <a:pt x="2356043" y="0"/>
                    <a:pt x="2367119" y="4588"/>
                    <a:pt x="2375286" y="12754"/>
                  </a:cubicBezTo>
                  <a:cubicBezTo>
                    <a:pt x="2383452" y="20921"/>
                    <a:pt x="2388040" y="31997"/>
                    <a:pt x="2388040" y="43546"/>
                  </a:cubicBezTo>
                  <a:lnTo>
                    <a:pt x="2388040" y="990333"/>
                  </a:lnTo>
                  <a:cubicBezTo>
                    <a:pt x="2388040" y="1001882"/>
                    <a:pt x="2383452" y="1012958"/>
                    <a:pt x="2375286" y="1021125"/>
                  </a:cubicBezTo>
                  <a:cubicBezTo>
                    <a:pt x="2367119" y="1029291"/>
                    <a:pt x="2356043" y="1033879"/>
                    <a:pt x="2344494" y="1033879"/>
                  </a:cubicBezTo>
                  <a:lnTo>
                    <a:pt x="43546" y="1033879"/>
                  </a:lnTo>
                  <a:cubicBezTo>
                    <a:pt x="19496" y="1033879"/>
                    <a:pt x="0" y="1014383"/>
                    <a:pt x="0" y="990333"/>
                  </a:cubicBezTo>
                  <a:lnTo>
                    <a:pt x="0" y="43546"/>
                  </a:lnTo>
                  <a:cubicBezTo>
                    <a:pt x="0" y="19496"/>
                    <a:pt x="19496" y="0"/>
                    <a:pt x="43546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2388040" cy="11291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955770" y="1393825"/>
            <a:ext cx="7963900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000"/>
              </a:lnSpc>
              <a:spcBef>
                <a:spcPct val="0"/>
              </a:spcBef>
            </a:pPr>
            <a:r>
              <a:rPr lang="en-US" sz="4000" b="1" spc="-305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Capability</a:t>
            </a:r>
            <a:r>
              <a:rPr lang="en-US" sz="5000" b="1" spc="-305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areas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83898" y="2803525"/>
            <a:ext cx="8035772" cy="340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399"/>
              </a:lnSpc>
              <a:buFont typeface="Arial"/>
              <a:buChar char="•"/>
            </a:pPr>
            <a:r>
              <a:rPr lang="en-US" sz="24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Vocational guidance for high-school, college and university students</a:t>
            </a:r>
          </a:p>
          <a:p>
            <a:pPr marL="539748" lvl="1" indent="-269874" algn="l">
              <a:lnSpc>
                <a:spcPts val="3399"/>
              </a:lnSpc>
              <a:buFont typeface="Arial"/>
              <a:buChar char="•"/>
            </a:pPr>
            <a:r>
              <a:rPr lang="en-US" sz="24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Labor market transitions for professionals</a:t>
            </a:r>
          </a:p>
          <a:p>
            <a:pPr marL="539748" lvl="1" indent="-269874" algn="l">
              <a:lnSpc>
                <a:spcPts val="3399"/>
              </a:lnSpc>
              <a:buFont typeface="Arial"/>
              <a:buChar char="•"/>
            </a:pPr>
            <a:r>
              <a:rPr lang="en-US" sz="24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 management programs design &amp; delivery </a:t>
            </a:r>
          </a:p>
          <a:p>
            <a:pPr marL="539748" lvl="1" indent="-269874" algn="l">
              <a:lnSpc>
                <a:spcPts val="3399"/>
              </a:lnSpc>
              <a:buFont typeface="Arial"/>
              <a:buChar char="•"/>
            </a:pPr>
            <a:r>
              <a:rPr lang="en-US" sz="24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Labor market dynamics &amp; trends</a:t>
            </a:r>
          </a:p>
          <a:p>
            <a:pPr marL="539748" lvl="1" indent="-269874" algn="l">
              <a:lnSpc>
                <a:spcPts val="3399"/>
              </a:lnSpc>
              <a:buFont typeface="Arial"/>
              <a:buChar char="•"/>
            </a:pPr>
            <a:r>
              <a:rPr lang="en-US" sz="24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Employability strategy development</a:t>
            </a:r>
          </a:p>
          <a:p>
            <a:pPr marL="539748" lvl="1" indent="-269874" algn="l">
              <a:lnSpc>
                <a:spcPts val="3399"/>
              </a:lnSpc>
              <a:buFont typeface="Arial"/>
              <a:buChar char="•"/>
            </a:pPr>
            <a:r>
              <a:rPr lang="en-US" sz="24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Life-design &amp; life-long guidance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53965" y="7874726"/>
            <a:ext cx="8244361" cy="1839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923"/>
              </a:lnSpc>
            </a:pPr>
            <a:r>
              <a:rPr lang="en-US" sz="2500" dirty="0">
                <a:solidFill>
                  <a:srgbClr val="FFFFFF"/>
                </a:solidFill>
                <a:latin typeface="Montserrat" panose="00000500000000000000" pitchFamily="2" charset="-52"/>
                <a:ea typeface="Codec Pro"/>
                <a:cs typeface="Codec Pro"/>
                <a:sym typeface="Codec Pro"/>
              </a:rPr>
              <a:t>Global Career Counsellor</a:t>
            </a:r>
          </a:p>
          <a:p>
            <a:pPr algn="r">
              <a:lnSpc>
                <a:spcPts val="4923"/>
              </a:lnSpc>
            </a:pPr>
            <a:r>
              <a:rPr lang="en-US" sz="2500" dirty="0">
                <a:solidFill>
                  <a:srgbClr val="FFFFFF"/>
                </a:solidFill>
                <a:latin typeface="Montserrat" panose="00000500000000000000" pitchFamily="2" charset="-52"/>
                <a:ea typeface="Codec Pro"/>
                <a:cs typeface="Codec Pro"/>
                <a:sym typeface="Codec Pro"/>
              </a:rPr>
              <a:t>Senior HR in Learning &amp; Talent Management</a:t>
            </a:r>
          </a:p>
          <a:p>
            <a:pPr algn="r">
              <a:lnSpc>
                <a:spcPts val="4923"/>
              </a:lnSpc>
            </a:pPr>
            <a:r>
              <a:rPr lang="en-US" sz="2500" dirty="0">
                <a:solidFill>
                  <a:srgbClr val="FFFFFF"/>
                </a:solidFill>
                <a:latin typeface="Montserrat" panose="00000500000000000000" pitchFamily="2" charset="-52"/>
                <a:ea typeface="Codec Pro"/>
                <a:cs typeface="Codec Pro"/>
                <a:sym typeface="Codec Pro"/>
              </a:rPr>
              <a:t>Psychotherapy &amp; Psychi</a:t>
            </a:r>
            <a:r>
              <a:rPr lang="en-US" sz="2425" dirty="0">
                <a:solidFill>
                  <a:srgbClr val="FFFFFF"/>
                </a:solidFill>
                <a:latin typeface="Montserrat" panose="00000500000000000000" pitchFamily="2" charset="-52"/>
                <a:ea typeface="Codec Pro"/>
                <a:cs typeface="Codec Pro"/>
                <a:sym typeface="Codec Pro"/>
              </a:rPr>
              <a:t>atry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887200" y="7891854"/>
            <a:ext cx="2029585" cy="1875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53"/>
              </a:lnSpc>
            </a:pPr>
            <a:r>
              <a:rPr lang="en-US" sz="3538" b="1" dirty="0">
                <a:solidFill>
                  <a:srgbClr val="FFFFFF"/>
                </a:solidFill>
                <a:latin typeface="Montserrat" panose="00000500000000000000" pitchFamily="2" charset="-52"/>
                <a:ea typeface="Codec Pro Bold"/>
                <a:cs typeface="Codec Pro Bold"/>
                <a:sym typeface="Codec Pro Bold"/>
              </a:rPr>
              <a:t>10 years</a:t>
            </a:r>
          </a:p>
          <a:p>
            <a:pPr algn="l">
              <a:lnSpc>
                <a:spcPts val="4953"/>
              </a:lnSpc>
            </a:pPr>
            <a:r>
              <a:rPr lang="en-US" sz="3538" b="1" dirty="0">
                <a:solidFill>
                  <a:srgbClr val="FFFFFF"/>
                </a:solidFill>
                <a:latin typeface="Montserrat" panose="00000500000000000000" pitchFamily="2" charset="-52"/>
                <a:ea typeface="Codec Pro Bold"/>
                <a:cs typeface="Codec Pro Bold"/>
                <a:sym typeface="Codec Pro Bold"/>
              </a:rPr>
              <a:t>20 years</a:t>
            </a:r>
          </a:p>
          <a:p>
            <a:pPr algn="l">
              <a:lnSpc>
                <a:spcPts val="4953"/>
              </a:lnSpc>
            </a:pPr>
            <a:r>
              <a:rPr lang="en-US" sz="3538" b="1" dirty="0">
                <a:solidFill>
                  <a:srgbClr val="FFFFFF"/>
                </a:solidFill>
                <a:latin typeface="Montserrat" panose="00000500000000000000" pitchFamily="2" charset="-52"/>
                <a:ea typeface="Codec Pro Bold"/>
                <a:cs typeface="Codec Pro Bold"/>
                <a:sym typeface="Codec Pro Bold"/>
              </a:rPr>
              <a:t>12 years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04360" y="6733698"/>
            <a:ext cx="3504307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4000" b="1" spc="-305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Career</a:t>
            </a:r>
            <a:r>
              <a:rPr lang="en-US" sz="5000" b="1" spc="-305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path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56884" y="846910"/>
            <a:ext cx="7302416" cy="37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88"/>
              </a:lnSpc>
              <a:spcBef>
                <a:spcPct val="0"/>
              </a:spcBef>
            </a:pPr>
            <a:r>
              <a:rPr lang="en-US" sz="2206" b="1" spc="4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Find Your Path and Fuel Your Future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28700" y="752557"/>
            <a:ext cx="2334520" cy="566532"/>
            <a:chOff x="0" y="0"/>
            <a:chExt cx="614853" cy="14921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14853" cy="149210"/>
            </a:xfrm>
            <a:custGeom>
              <a:avLst/>
              <a:gdLst/>
              <a:ahLst/>
              <a:cxnLst/>
              <a:rect l="l" t="t" r="r" b="b"/>
              <a:pathLst>
                <a:path w="614853" h="149210">
                  <a:moveTo>
                    <a:pt x="74605" y="0"/>
                  </a:moveTo>
                  <a:lnTo>
                    <a:pt x="540248" y="0"/>
                  </a:lnTo>
                  <a:cubicBezTo>
                    <a:pt x="581451" y="0"/>
                    <a:pt x="614853" y="33402"/>
                    <a:pt x="614853" y="74605"/>
                  </a:cubicBezTo>
                  <a:lnTo>
                    <a:pt x="614853" y="74605"/>
                  </a:lnTo>
                  <a:cubicBezTo>
                    <a:pt x="614853" y="115808"/>
                    <a:pt x="581451" y="149210"/>
                    <a:pt x="540248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18FF"/>
            </a:solidFill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614853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358983" y="856435"/>
            <a:ext cx="1673954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CareerDrive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631474" y="1764096"/>
            <a:ext cx="1985606" cy="1996496"/>
          </a:xfrm>
          <a:custGeom>
            <a:avLst/>
            <a:gdLst/>
            <a:ahLst/>
            <a:cxnLst/>
            <a:rect l="l" t="t" r="r" b="b"/>
            <a:pathLst>
              <a:path w="1985606" h="1996496">
                <a:moveTo>
                  <a:pt x="1985606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6" y="1996496"/>
                </a:lnTo>
                <a:lnTo>
                  <a:pt x="19856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3" name="Freeform 3"/>
          <p:cNvSpPr/>
          <p:nvPr/>
        </p:nvSpPr>
        <p:spPr>
          <a:xfrm flipH="1">
            <a:off x="-627288" y="1764096"/>
            <a:ext cx="1985606" cy="1996496"/>
          </a:xfrm>
          <a:custGeom>
            <a:avLst/>
            <a:gdLst/>
            <a:ahLst/>
            <a:cxnLst/>
            <a:rect l="l" t="t" r="r" b="b"/>
            <a:pathLst>
              <a:path w="1985606" h="1996496">
                <a:moveTo>
                  <a:pt x="1985607" y="0"/>
                </a:moveTo>
                <a:lnTo>
                  <a:pt x="0" y="0"/>
                </a:lnTo>
                <a:lnTo>
                  <a:pt x="0" y="1996496"/>
                </a:lnTo>
                <a:lnTo>
                  <a:pt x="1985607" y="1996496"/>
                </a:lnTo>
                <a:lnTo>
                  <a:pt x="198560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28700" y="752557"/>
            <a:ext cx="2334520" cy="566532"/>
            <a:chOff x="0" y="0"/>
            <a:chExt cx="614853" cy="1492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4853" cy="149210"/>
            </a:xfrm>
            <a:custGeom>
              <a:avLst/>
              <a:gdLst/>
              <a:ahLst/>
              <a:cxnLst/>
              <a:rect l="l" t="t" r="r" b="b"/>
              <a:pathLst>
                <a:path w="614853" h="149210">
                  <a:moveTo>
                    <a:pt x="74605" y="0"/>
                  </a:moveTo>
                  <a:lnTo>
                    <a:pt x="540248" y="0"/>
                  </a:lnTo>
                  <a:cubicBezTo>
                    <a:pt x="581451" y="0"/>
                    <a:pt x="614853" y="33402"/>
                    <a:pt x="614853" y="74605"/>
                  </a:cubicBezTo>
                  <a:lnTo>
                    <a:pt x="614853" y="74605"/>
                  </a:lnTo>
                  <a:cubicBezTo>
                    <a:pt x="614853" y="115808"/>
                    <a:pt x="581451" y="149210"/>
                    <a:pt x="540248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18FF"/>
            </a:solidFill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14853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1752600" y="4483681"/>
            <a:ext cx="763762" cy="1117019"/>
          </a:xfrm>
          <a:custGeom>
            <a:avLst/>
            <a:gdLst/>
            <a:ahLst/>
            <a:cxnLst/>
            <a:rect l="l" t="t" r="r" b="b"/>
            <a:pathLst>
              <a:path w="763762" h="1117019">
                <a:moveTo>
                  <a:pt x="0" y="0"/>
                </a:moveTo>
                <a:lnTo>
                  <a:pt x="763762" y="0"/>
                </a:lnTo>
                <a:lnTo>
                  <a:pt x="763762" y="1117020"/>
                </a:lnTo>
                <a:lnTo>
                  <a:pt x="0" y="11170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752600" y="8171507"/>
            <a:ext cx="1276581" cy="1166476"/>
          </a:xfrm>
          <a:custGeom>
            <a:avLst/>
            <a:gdLst/>
            <a:ahLst/>
            <a:cxnLst/>
            <a:rect l="l" t="t" r="r" b="b"/>
            <a:pathLst>
              <a:path w="1276581" h="1166476">
                <a:moveTo>
                  <a:pt x="0" y="0"/>
                </a:moveTo>
                <a:lnTo>
                  <a:pt x="1276581" y="0"/>
                </a:lnTo>
                <a:lnTo>
                  <a:pt x="1276581" y="1166476"/>
                </a:lnTo>
                <a:lnTo>
                  <a:pt x="0" y="11664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0798478" y="4457982"/>
            <a:ext cx="1413949" cy="1117019"/>
          </a:xfrm>
          <a:custGeom>
            <a:avLst/>
            <a:gdLst/>
            <a:ahLst/>
            <a:cxnLst/>
            <a:rect l="l" t="t" r="r" b="b"/>
            <a:pathLst>
              <a:path w="1413949" h="1117019">
                <a:moveTo>
                  <a:pt x="0" y="0"/>
                </a:moveTo>
                <a:lnTo>
                  <a:pt x="1413949" y="0"/>
                </a:lnTo>
                <a:lnTo>
                  <a:pt x="1413949" y="1117019"/>
                </a:lnTo>
                <a:lnTo>
                  <a:pt x="0" y="11170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0909208" y="6080791"/>
            <a:ext cx="1192488" cy="1235739"/>
          </a:xfrm>
          <a:custGeom>
            <a:avLst/>
            <a:gdLst/>
            <a:ahLst/>
            <a:cxnLst/>
            <a:rect l="l" t="t" r="r" b="b"/>
            <a:pathLst>
              <a:path w="1192488" h="1235739">
                <a:moveTo>
                  <a:pt x="0" y="0"/>
                </a:moveTo>
                <a:lnTo>
                  <a:pt x="1192489" y="0"/>
                </a:lnTo>
                <a:lnTo>
                  <a:pt x="1192489" y="1235739"/>
                </a:lnTo>
                <a:lnTo>
                  <a:pt x="0" y="1235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0798478" y="7822320"/>
            <a:ext cx="1485012" cy="1327229"/>
          </a:xfrm>
          <a:custGeom>
            <a:avLst/>
            <a:gdLst/>
            <a:ahLst/>
            <a:cxnLst/>
            <a:rect l="l" t="t" r="r" b="b"/>
            <a:pathLst>
              <a:path w="1485012" h="1327229">
                <a:moveTo>
                  <a:pt x="0" y="0"/>
                </a:moveTo>
                <a:lnTo>
                  <a:pt x="1485012" y="0"/>
                </a:lnTo>
                <a:lnTo>
                  <a:pt x="1485012" y="1327230"/>
                </a:lnTo>
                <a:lnTo>
                  <a:pt x="0" y="132723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3810000" y="5448300"/>
            <a:ext cx="278019" cy="227527"/>
            <a:chOff x="76200" y="-258633"/>
            <a:chExt cx="1216092" cy="995233"/>
          </a:xfrm>
        </p:grpSpPr>
        <p:sp>
          <p:nvSpPr>
            <p:cNvPr id="14" name="Freeform 14"/>
            <p:cNvSpPr/>
            <p:nvPr/>
          </p:nvSpPr>
          <p:spPr>
            <a:xfrm>
              <a:off x="479492" y="-258633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ru-RU" sz="1600" dirty="0">
                <a:latin typeface="Montserrat" panose="00000500000000000000" pitchFamily="2" charset="-5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sz="1600"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839190" y="1988279"/>
            <a:ext cx="13626909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-243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CareerDrive</a:t>
            </a:r>
            <a:r>
              <a:rPr lang="en-US" sz="3999" b="1" spc="-243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Build your own capability for career choice and navigating work in a changing labor market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8983" y="856435"/>
            <a:ext cx="1673954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CareerDrive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56884" y="846910"/>
            <a:ext cx="7302416" cy="37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88"/>
              </a:lnSpc>
              <a:spcBef>
                <a:spcPct val="0"/>
              </a:spcBef>
            </a:pPr>
            <a:r>
              <a:rPr lang="en-US" sz="2206" b="1" spc="4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Find Your Path and Fuel Your Future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643726" y="4485631"/>
            <a:ext cx="5023710" cy="50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39"/>
              </a:lnSpc>
              <a:spcBef>
                <a:spcPct val="0"/>
              </a:spcBef>
            </a:pPr>
            <a:r>
              <a:rPr lang="en-US" sz="3000" spc="-18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Program format to choose: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643726" y="8184515"/>
            <a:ext cx="4482125" cy="1073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39"/>
              </a:lnSpc>
              <a:spcBef>
                <a:spcPct val="0"/>
              </a:spcBef>
            </a:pPr>
            <a:r>
              <a:rPr lang="en-US" sz="3000" spc="-18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Hands-on workshops with mentor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19884" y="4485631"/>
            <a:ext cx="4639416" cy="1073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39"/>
              </a:lnSpc>
              <a:spcBef>
                <a:spcPct val="0"/>
              </a:spcBef>
            </a:pPr>
            <a:r>
              <a:rPr lang="en-US" sz="3000" spc="-189" dirty="0">
                <a:solidFill>
                  <a:srgbClr val="FFFFFF"/>
                </a:solidFill>
                <a:latin typeface="Montserrat"/>
                <a:sym typeface="Montserrat"/>
              </a:rPr>
              <a:t>Practical homework with templates and tools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19884" y="7641590"/>
            <a:ext cx="4639416" cy="161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indent="0">
              <a:lnSpc>
                <a:spcPts val="4339"/>
              </a:lnSpc>
              <a:spcBef>
                <a:spcPct val="0"/>
              </a:spcBef>
            </a:pPr>
            <a:r>
              <a:rPr lang="en-US" sz="3000" spc="-189" dirty="0">
                <a:solidFill>
                  <a:srgbClr val="FFFFFF"/>
                </a:solidFill>
                <a:latin typeface="Montserrat"/>
                <a:sym typeface="Montserrat"/>
              </a:rPr>
              <a:t>Your results: Gain the skill to mindfully design and navigate career for life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89247" y="5210543"/>
            <a:ext cx="4754753" cy="1053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39"/>
              </a:lnSpc>
              <a:spcBef>
                <a:spcPct val="0"/>
              </a:spcBef>
            </a:pPr>
            <a:r>
              <a:rPr lang="en-US" sz="2500" spc="-18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2-Day in-person intensive workshop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89247" y="6623878"/>
            <a:ext cx="4754753" cy="1073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39"/>
              </a:lnSpc>
              <a:spcBef>
                <a:spcPct val="0"/>
              </a:spcBef>
            </a:pPr>
            <a:r>
              <a:rPr lang="en-US" sz="2500" spc="-189" dirty="0">
                <a:solidFill>
                  <a:srgbClr val="FFFFFF"/>
                </a:solidFill>
                <a:latin typeface="Montserrat"/>
                <a:sym typeface="Montserrat"/>
              </a:rPr>
              <a:t>8-Module Flex Program</a:t>
            </a:r>
          </a:p>
          <a:p>
            <a:pPr marL="0" lvl="0" indent="0" algn="l">
              <a:lnSpc>
                <a:spcPts val="4339"/>
              </a:lnSpc>
              <a:spcBef>
                <a:spcPct val="0"/>
              </a:spcBef>
            </a:pPr>
            <a:r>
              <a:rPr lang="en-US" sz="2500" spc="-189" dirty="0">
                <a:solidFill>
                  <a:srgbClr val="FFFFFF"/>
                </a:solidFill>
                <a:latin typeface="Montserrat"/>
                <a:sym typeface="Montserrat"/>
              </a:rPr>
              <a:t> (in-person or online)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19884" y="6128431"/>
            <a:ext cx="4639416" cy="1073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39"/>
              </a:lnSpc>
              <a:spcBef>
                <a:spcPct val="0"/>
              </a:spcBef>
            </a:pPr>
            <a:r>
              <a:rPr lang="en-US" sz="3000" spc="-189" dirty="0">
                <a:solidFill>
                  <a:srgbClr val="FFFFFF"/>
                </a:solidFill>
                <a:latin typeface="Montserrat"/>
                <a:sym typeface="Montserrat"/>
              </a:rPr>
              <a:t>Personal feedback and group support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874951" y="6792236"/>
            <a:ext cx="192151" cy="2198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422"/>
              </a:lnSpc>
            </a:pPr>
            <a:endParaRPr dirty="0">
              <a:latin typeface="Montserrat" panose="000005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6A897C-C641-51D0-D5CE-E0049E7D4876}"/>
              </a:ext>
            </a:extLst>
          </p:cNvPr>
          <p:cNvSpPr txBox="1"/>
          <p:nvPr/>
        </p:nvSpPr>
        <p:spPr>
          <a:xfrm>
            <a:off x="5943600" y="6128431"/>
            <a:ext cx="63793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spc="-189" dirty="0">
                <a:solidFill>
                  <a:srgbClr val="FFFFFF"/>
                </a:solidFill>
                <a:latin typeface="Montserrat"/>
              </a:rPr>
              <a:t>OR</a:t>
            </a:r>
            <a:endParaRPr lang="ru-UZ" sz="2500" spc="-189" dirty="0">
              <a:solidFill>
                <a:srgbClr val="FFFFFF"/>
              </a:solidFill>
              <a:latin typeface="Montserrat"/>
            </a:endParaRPr>
          </a:p>
        </p:txBody>
      </p:sp>
      <p:grpSp>
        <p:nvGrpSpPr>
          <p:cNvPr id="29" name="Group 13">
            <a:extLst>
              <a:ext uri="{FF2B5EF4-FFF2-40B4-BE49-F238E27FC236}">
                <a16:creationId xmlns:a16="http://schemas.microsoft.com/office/drawing/2014/main" id="{4B8A2D52-02D1-A3F9-E687-4AD46DC9A5BD}"/>
              </a:ext>
            </a:extLst>
          </p:cNvPr>
          <p:cNvGrpSpPr/>
          <p:nvPr/>
        </p:nvGrpSpPr>
        <p:grpSpPr>
          <a:xfrm>
            <a:off x="3810000" y="6819900"/>
            <a:ext cx="278019" cy="227527"/>
            <a:chOff x="76200" y="-258633"/>
            <a:chExt cx="1216092" cy="995233"/>
          </a:xfrm>
        </p:grpSpPr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1429FF8-06AF-E88F-1D99-F578EF8B07A6}"/>
                </a:ext>
              </a:extLst>
            </p:cNvPr>
            <p:cNvSpPr/>
            <p:nvPr/>
          </p:nvSpPr>
          <p:spPr>
            <a:xfrm>
              <a:off x="479492" y="-258633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ru-RU" sz="1600" dirty="0">
                <a:latin typeface="Montserrat" panose="00000500000000000000" pitchFamily="2" charset="-52"/>
              </a:endParaRPr>
            </a:p>
          </p:txBody>
        </p:sp>
        <p:sp>
          <p:nvSpPr>
            <p:cNvPr id="32" name="TextBox 15">
              <a:extLst>
                <a:ext uri="{FF2B5EF4-FFF2-40B4-BE49-F238E27FC236}">
                  <a16:creationId xmlns:a16="http://schemas.microsoft.com/office/drawing/2014/main" id="{BBE4D57F-5DF1-B707-7540-AB54267D976C}"/>
                </a:ext>
              </a:extLst>
            </p:cNvPr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sz="1600"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33" name="Freeform 33">
            <a:extLst>
              <a:ext uri="{FF2B5EF4-FFF2-40B4-BE49-F238E27FC236}">
                <a16:creationId xmlns:a16="http://schemas.microsoft.com/office/drawing/2014/main" id="{44CBB40E-B2DA-019B-1999-69803F37B96C}"/>
              </a:ext>
            </a:extLst>
          </p:cNvPr>
          <p:cNvSpPr/>
          <p:nvPr/>
        </p:nvSpPr>
        <p:spPr>
          <a:xfrm flipH="1">
            <a:off x="15697200" y="1714500"/>
            <a:ext cx="1870210" cy="2057400"/>
          </a:xfrm>
          <a:custGeom>
            <a:avLst/>
            <a:gdLst/>
            <a:ahLst/>
            <a:cxnLst/>
            <a:rect l="l" t="t" r="r" b="b"/>
            <a:pathLst>
              <a:path w="2175010" h="2186939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74A65086-A88C-1CDF-BAC2-8386A5995EBD}"/>
              </a:ext>
            </a:extLst>
          </p:cNvPr>
          <p:cNvSpPr/>
          <p:nvPr/>
        </p:nvSpPr>
        <p:spPr>
          <a:xfrm flipH="1">
            <a:off x="16916400" y="1714500"/>
            <a:ext cx="1870210" cy="2057400"/>
          </a:xfrm>
          <a:custGeom>
            <a:avLst/>
            <a:gdLst/>
            <a:ahLst/>
            <a:cxnLst/>
            <a:rect l="l" t="t" r="r" b="b"/>
            <a:pathLst>
              <a:path w="2175010" h="2186939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533C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207970" y="5554836"/>
            <a:ext cx="3823418" cy="3844387"/>
          </a:xfrm>
          <a:custGeom>
            <a:avLst/>
            <a:gdLst/>
            <a:ahLst/>
            <a:cxnLst/>
            <a:rect l="l" t="t" r="r" b="b"/>
            <a:pathLst>
              <a:path w="3823418" h="3844387">
                <a:moveTo>
                  <a:pt x="3823418" y="0"/>
                </a:moveTo>
                <a:lnTo>
                  <a:pt x="0" y="0"/>
                </a:lnTo>
                <a:lnTo>
                  <a:pt x="0" y="3844387"/>
                </a:lnTo>
                <a:lnTo>
                  <a:pt x="3823418" y="3844387"/>
                </a:lnTo>
                <a:lnTo>
                  <a:pt x="382341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3" name="Freeform 3"/>
          <p:cNvSpPr/>
          <p:nvPr/>
        </p:nvSpPr>
        <p:spPr>
          <a:xfrm flipH="1">
            <a:off x="11784140" y="5554836"/>
            <a:ext cx="3823418" cy="3844387"/>
          </a:xfrm>
          <a:custGeom>
            <a:avLst/>
            <a:gdLst/>
            <a:ahLst/>
            <a:cxnLst/>
            <a:rect l="l" t="t" r="r" b="b"/>
            <a:pathLst>
              <a:path w="3823418" h="3844387">
                <a:moveTo>
                  <a:pt x="3823418" y="0"/>
                </a:moveTo>
                <a:lnTo>
                  <a:pt x="0" y="0"/>
                </a:lnTo>
                <a:lnTo>
                  <a:pt x="0" y="3844387"/>
                </a:lnTo>
                <a:lnTo>
                  <a:pt x="3823418" y="3844387"/>
                </a:lnTo>
                <a:lnTo>
                  <a:pt x="382341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28700" y="752557"/>
            <a:ext cx="2334520" cy="566532"/>
            <a:chOff x="0" y="0"/>
            <a:chExt cx="614853" cy="1492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4853" cy="149210"/>
            </a:xfrm>
            <a:custGeom>
              <a:avLst/>
              <a:gdLst/>
              <a:ahLst/>
              <a:cxnLst/>
              <a:rect l="l" t="t" r="r" b="b"/>
              <a:pathLst>
                <a:path w="614853" h="149210">
                  <a:moveTo>
                    <a:pt x="74605" y="0"/>
                  </a:moveTo>
                  <a:lnTo>
                    <a:pt x="540248" y="0"/>
                  </a:lnTo>
                  <a:cubicBezTo>
                    <a:pt x="581451" y="0"/>
                    <a:pt x="614853" y="33402"/>
                    <a:pt x="614853" y="74605"/>
                  </a:cubicBezTo>
                  <a:lnTo>
                    <a:pt x="614853" y="74605"/>
                  </a:lnTo>
                  <a:cubicBezTo>
                    <a:pt x="614853" y="115808"/>
                    <a:pt x="581451" y="149210"/>
                    <a:pt x="540248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18FF"/>
            </a:solidFill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14853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12611100" y="2103151"/>
            <a:ext cx="4137948" cy="4868174"/>
          </a:xfrm>
          <a:custGeom>
            <a:avLst/>
            <a:gdLst/>
            <a:ahLst/>
            <a:cxnLst/>
            <a:rect l="l" t="t" r="r" b="b"/>
            <a:pathLst>
              <a:path w="4137948" h="4868174">
                <a:moveTo>
                  <a:pt x="0" y="0"/>
                </a:moveTo>
                <a:lnTo>
                  <a:pt x="4137948" y="0"/>
                </a:lnTo>
                <a:lnTo>
                  <a:pt x="4137948" y="4868173"/>
                </a:lnTo>
                <a:lnTo>
                  <a:pt x="0" y="48681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7761146"/>
            <a:ext cx="8935933" cy="1658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3579"/>
              </a:lnSpc>
              <a:spcBef>
                <a:spcPct val="0"/>
              </a:spcBef>
            </a:pPr>
            <a:r>
              <a:rPr lang="en-US" sz="9699" b="1" spc="-59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WHO IT’S FOR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8983" y="856435"/>
            <a:ext cx="1673954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CareerDrive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56884" y="846910"/>
            <a:ext cx="7302416" cy="37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88"/>
              </a:lnSpc>
              <a:spcBef>
                <a:spcPct val="0"/>
              </a:spcBef>
            </a:pPr>
            <a:r>
              <a:rPr lang="en-US" sz="2206" b="1" spc="4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Find Your Path and Fuel Your Future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224513"/>
            <a:ext cx="7942635" cy="59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38"/>
              </a:lnSpc>
              <a:spcBef>
                <a:spcPct val="0"/>
              </a:spcBef>
            </a:pPr>
            <a:r>
              <a:rPr lang="en-US" sz="3500" b="1" spc="-215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Students</a:t>
            </a:r>
            <a:r>
              <a:rPr lang="en-US" sz="3500" spc="-21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making early career decisions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262167"/>
            <a:ext cx="7658100" cy="582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38"/>
              </a:lnSpc>
              <a:spcBef>
                <a:spcPct val="0"/>
              </a:spcBef>
            </a:pPr>
            <a:r>
              <a:rPr lang="en-US" sz="3500" b="1" spc="-215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sym typeface="Montserrat Bold"/>
              </a:rPr>
              <a:t>Graduates</a:t>
            </a:r>
            <a:r>
              <a:rPr lang="en-US" sz="3500" b="1" spc="-215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sym typeface="Montserrat"/>
              </a:rPr>
              <a:t> </a:t>
            </a:r>
            <a:r>
              <a:rPr lang="en-US" sz="3500" spc="-215" dirty="0">
                <a:solidFill>
                  <a:srgbClr val="FFFFFF"/>
                </a:solidFill>
                <a:latin typeface="Montserrat"/>
                <a:sym typeface="Montserrat"/>
              </a:rPr>
              <a:t>transitioning into work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299820"/>
            <a:ext cx="9182100" cy="5948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938"/>
              </a:lnSpc>
              <a:spcBef>
                <a:spcPct val="0"/>
              </a:spcBef>
            </a:pPr>
            <a:r>
              <a:rPr lang="en-US" sz="3500" b="1" spc="-215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sym typeface="Montserrat Bold"/>
              </a:rPr>
              <a:t>Professionals</a:t>
            </a:r>
            <a:r>
              <a:rPr lang="en-US" sz="3527" spc="-21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00" spc="-215" dirty="0">
                <a:solidFill>
                  <a:srgbClr val="FFFFFF"/>
                </a:solidFill>
                <a:latin typeface="Montserrat"/>
                <a:sym typeface="Montserrat"/>
              </a:rPr>
              <a:t>at risk of stagnation or burnout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337473"/>
            <a:ext cx="9410700" cy="5948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938"/>
              </a:lnSpc>
              <a:spcBef>
                <a:spcPct val="0"/>
              </a:spcBef>
            </a:pPr>
            <a:r>
              <a:rPr lang="en-US" sz="3500" b="1" spc="-215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sym typeface="Montserrat Bold"/>
              </a:rPr>
              <a:t>Job seekers</a:t>
            </a:r>
            <a:r>
              <a:rPr lang="en-US" sz="3500" b="1" spc="-215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sym typeface="Montserrat"/>
              </a:rPr>
              <a:t> </a:t>
            </a:r>
            <a:r>
              <a:rPr lang="en-US" sz="3500" spc="-215" dirty="0">
                <a:solidFill>
                  <a:srgbClr val="FFFFFF"/>
                </a:solidFill>
                <a:latin typeface="Montserrat"/>
                <a:sym typeface="Montserrat"/>
              </a:rPr>
              <a:t>facing disruption and uncertainty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6375126"/>
            <a:ext cx="10016361" cy="59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38"/>
              </a:lnSpc>
              <a:spcBef>
                <a:spcPct val="0"/>
              </a:spcBef>
            </a:pPr>
            <a:r>
              <a:rPr lang="en-US" sz="3527" b="1" spc="-215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sz="3500" b="1" spc="-215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sym typeface="Montserrat Bold"/>
              </a:rPr>
              <a:t>ndividuals</a:t>
            </a:r>
            <a:r>
              <a:rPr lang="en-US" sz="3527" b="1" spc="-215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500" spc="-215" dirty="0">
                <a:solidFill>
                  <a:srgbClr val="FFFFFF"/>
                </a:solidFill>
                <a:latin typeface="Montserrat"/>
                <a:sym typeface="Montserrat"/>
              </a:rPr>
              <a:t>lacking lifelong career navigation skills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752557"/>
            <a:ext cx="2334520" cy="566532"/>
            <a:chOff x="0" y="0"/>
            <a:chExt cx="614853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4853" cy="149210"/>
            </a:xfrm>
            <a:custGeom>
              <a:avLst/>
              <a:gdLst/>
              <a:ahLst/>
              <a:cxnLst/>
              <a:rect l="l" t="t" r="r" b="b"/>
              <a:pathLst>
                <a:path w="614853" h="149210">
                  <a:moveTo>
                    <a:pt x="74605" y="0"/>
                  </a:moveTo>
                  <a:lnTo>
                    <a:pt x="540248" y="0"/>
                  </a:lnTo>
                  <a:cubicBezTo>
                    <a:pt x="581451" y="0"/>
                    <a:pt x="614853" y="33402"/>
                    <a:pt x="614853" y="74605"/>
                  </a:cubicBezTo>
                  <a:lnTo>
                    <a:pt x="614853" y="74605"/>
                  </a:lnTo>
                  <a:cubicBezTo>
                    <a:pt x="614853" y="115808"/>
                    <a:pt x="581451" y="149210"/>
                    <a:pt x="540248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18FF"/>
            </a:solidFill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14853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-405084" y="5039498"/>
            <a:ext cx="14997279" cy="2793243"/>
          </a:xfrm>
          <a:custGeom>
            <a:avLst/>
            <a:gdLst/>
            <a:ahLst/>
            <a:cxnLst/>
            <a:rect l="l" t="t" r="r" b="b"/>
            <a:pathLst>
              <a:path w="14997279" h="2793243">
                <a:moveTo>
                  <a:pt x="0" y="0"/>
                </a:moveTo>
                <a:lnTo>
                  <a:pt x="14997279" y="0"/>
                </a:lnTo>
                <a:lnTo>
                  <a:pt x="14997279" y="2793243"/>
                </a:lnTo>
                <a:lnTo>
                  <a:pt x="0" y="2793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2034684" y="6104030"/>
            <a:ext cx="1571595" cy="607029"/>
          </a:xfrm>
          <a:custGeom>
            <a:avLst/>
            <a:gdLst/>
            <a:ahLst/>
            <a:cxnLst/>
            <a:rect l="l" t="t" r="r" b="b"/>
            <a:pathLst>
              <a:path w="1571595" h="607029">
                <a:moveTo>
                  <a:pt x="0" y="0"/>
                </a:moveTo>
                <a:lnTo>
                  <a:pt x="1571594" y="0"/>
                </a:lnTo>
                <a:lnTo>
                  <a:pt x="1571594" y="607029"/>
                </a:lnTo>
                <a:lnTo>
                  <a:pt x="0" y="6070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7" name="Freeform 7"/>
          <p:cNvSpPr/>
          <p:nvPr/>
        </p:nvSpPr>
        <p:spPr>
          <a:xfrm rot="-10800000">
            <a:off x="12079828" y="5010923"/>
            <a:ext cx="14997279" cy="2793243"/>
          </a:xfrm>
          <a:custGeom>
            <a:avLst/>
            <a:gdLst/>
            <a:ahLst/>
            <a:cxnLst/>
            <a:rect l="l" t="t" r="r" b="b"/>
            <a:pathLst>
              <a:path w="14997279" h="2793243">
                <a:moveTo>
                  <a:pt x="0" y="0"/>
                </a:moveTo>
                <a:lnTo>
                  <a:pt x="14997279" y="0"/>
                </a:lnTo>
                <a:lnTo>
                  <a:pt x="14997279" y="2793243"/>
                </a:lnTo>
                <a:lnTo>
                  <a:pt x="0" y="2793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38607" y="8032416"/>
            <a:ext cx="2490289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spc="-18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New Career Reality</a:t>
            </a:r>
          </a:p>
        </p:txBody>
      </p:sp>
      <p:sp>
        <p:nvSpPr>
          <p:cNvPr id="9" name="Freeform 9"/>
          <p:cNvSpPr/>
          <p:nvPr/>
        </p:nvSpPr>
        <p:spPr>
          <a:xfrm>
            <a:off x="4083744" y="6104030"/>
            <a:ext cx="1571595" cy="607029"/>
          </a:xfrm>
          <a:custGeom>
            <a:avLst/>
            <a:gdLst/>
            <a:ahLst/>
            <a:cxnLst/>
            <a:rect l="l" t="t" r="r" b="b"/>
            <a:pathLst>
              <a:path w="1571595" h="607029">
                <a:moveTo>
                  <a:pt x="0" y="0"/>
                </a:moveTo>
                <a:lnTo>
                  <a:pt x="1571595" y="0"/>
                </a:lnTo>
                <a:lnTo>
                  <a:pt x="1571595" y="607029"/>
                </a:lnTo>
                <a:lnTo>
                  <a:pt x="0" y="6070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6199480" y="6104030"/>
            <a:ext cx="1571595" cy="607029"/>
          </a:xfrm>
          <a:custGeom>
            <a:avLst/>
            <a:gdLst/>
            <a:ahLst/>
            <a:cxnLst/>
            <a:rect l="l" t="t" r="r" b="b"/>
            <a:pathLst>
              <a:path w="1571595" h="607029">
                <a:moveTo>
                  <a:pt x="0" y="0"/>
                </a:moveTo>
                <a:lnTo>
                  <a:pt x="1571595" y="0"/>
                </a:lnTo>
                <a:lnTo>
                  <a:pt x="1571595" y="607029"/>
                </a:lnTo>
                <a:lnTo>
                  <a:pt x="0" y="6070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8239016" y="6104030"/>
            <a:ext cx="1571595" cy="607029"/>
          </a:xfrm>
          <a:custGeom>
            <a:avLst/>
            <a:gdLst/>
            <a:ahLst/>
            <a:cxnLst/>
            <a:rect l="l" t="t" r="r" b="b"/>
            <a:pathLst>
              <a:path w="1571595" h="607029">
                <a:moveTo>
                  <a:pt x="0" y="0"/>
                </a:moveTo>
                <a:lnTo>
                  <a:pt x="1571595" y="0"/>
                </a:lnTo>
                <a:lnTo>
                  <a:pt x="1571595" y="607029"/>
                </a:lnTo>
                <a:lnTo>
                  <a:pt x="0" y="6070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0353536" y="6104030"/>
            <a:ext cx="1571595" cy="607029"/>
          </a:xfrm>
          <a:custGeom>
            <a:avLst/>
            <a:gdLst/>
            <a:ahLst/>
            <a:cxnLst/>
            <a:rect l="l" t="t" r="r" b="b"/>
            <a:pathLst>
              <a:path w="1571595" h="607029">
                <a:moveTo>
                  <a:pt x="0" y="0"/>
                </a:moveTo>
                <a:lnTo>
                  <a:pt x="1571595" y="0"/>
                </a:lnTo>
                <a:lnTo>
                  <a:pt x="1571595" y="607029"/>
                </a:lnTo>
                <a:lnTo>
                  <a:pt x="0" y="6070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2468056" y="6104030"/>
            <a:ext cx="1571595" cy="607029"/>
          </a:xfrm>
          <a:custGeom>
            <a:avLst/>
            <a:gdLst/>
            <a:ahLst/>
            <a:cxnLst/>
            <a:rect l="l" t="t" r="r" b="b"/>
            <a:pathLst>
              <a:path w="1571595" h="607029">
                <a:moveTo>
                  <a:pt x="0" y="0"/>
                </a:moveTo>
                <a:lnTo>
                  <a:pt x="1571595" y="0"/>
                </a:lnTo>
                <a:lnTo>
                  <a:pt x="1571595" y="607029"/>
                </a:lnTo>
                <a:lnTo>
                  <a:pt x="0" y="6070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4723544" y="6104030"/>
            <a:ext cx="1571595" cy="607029"/>
          </a:xfrm>
          <a:custGeom>
            <a:avLst/>
            <a:gdLst/>
            <a:ahLst/>
            <a:cxnLst/>
            <a:rect l="l" t="t" r="r" b="b"/>
            <a:pathLst>
              <a:path w="1571595" h="607029">
                <a:moveTo>
                  <a:pt x="0" y="0"/>
                </a:moveTo>
                <a:lnTo>
                  <a:pt x="1571595" y="0"/>
                </a:lnTo>
                <a:lnTo>
                  <a:pt x="1571595" y="607029"/>
                </a:lnTo>
                <a:lnTo>
                  <a:pt x="0" y="6070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6838064" y="6104030"/>
            <a:ext cx="1571595" cy="607029"/>
          </a:xfrm>
          <a:custGeom>
            <a:avLst/>
            <a:gdLst/>
            <a:ahLst/>
            <a:cxnLst/>
            <a:rect l="l" t="t" r="r" b="b"/>
            <a:pathLst>
              <a:path w="1571595" h="607029">
                <a:moveTo>
                  <a:pt x="0" y="0"/>
                </a:moveTo>
                <a:lnTo>
                  <a:pt x="1571595" y="0"/>
                </a:lnTo>
                <a:lnTo>
                  <a:pt x="1571595" y="607029"/>
                </a:lnTo>
                <a:lnTo>
                  <a:pt x="0" y="6070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603006" y="3734573"/>
            <a:ext cx="260562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spc="-18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Professional Fit Framework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235747" y="7947041"/>
            <a:ext cx="3335745" cy="1337888"/>
            <a:chOff x="0" y="0"/>
            <a:chExt cx="878550" cy="35236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78550" cy="352366"/>
            </a:xfrm>
            <a:custGeom>
              <a:avLst/>
              <a:gdLst/>
              <a:ahLst/>
              <a:cxnLst/>
              <a:rect l="l" t="t" r="r" b="b"/>
              <a:pathLst>
                <a:path w="878550" h="352366">
                  <a:moveTo>
                    <a:pt x="118366" y="0"/>
                  </a:moveTo>
                  <a:lnTo>
                    <a:pt x="760184" y="0"/>
                  </a:lnTo>
                  <a:cubicBezTo>
                    <a:pt x="825556" y="0"/>
                    <a:pt x="878550" y="52994"/>
                    <a:pt x="878550" y="118366"/>
                  </a:cubicBezTo>
                  <a:lnTo>
                    <a:pt x="878550" y="234000"/>
                  </a:lnTo>
                  <a:cubicBezTo>
                    <a:pt x="878550" y="299371"/>
                    <a:pt x="825556" y="352366"/>
                    <a:pt x="760184" y="352366"/>
                  </a:cubicBezTo>
                  <a:lnTo>
                    <a:pt x="118366" y="352366"/>
                  </a:lnTo>
                  <a:cubicBezTo>
                    <a:pt x="86973" y="352366"/>
                    <a:pt x="56866" y="339895"/>
                    <a:pt x="34669" y="317697"/>
                  </a:cubicBezTo>
                  <a:cubicBezTo>
                    <a:pt x="12471" y="295499"/>
                    <a:pt x="0" y="265392"/>
                    <a:pt x="0" y="234000"/>
                  </a:cubicBezTo>
                  <a:lnTo>
                    <a:pt x="0" y="118366"/>
                  </a:lnTo>
                  <a:cubicBezTo>
                    <a:pt x="0" y="52994"/>
                    <a:pt x="52994" y="0"/>
                    <a:pt x="118366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878550" cy="447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635438" y="8302053"/>
            <a:ext cx="2605627" cy="49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spc="-18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Self-awareness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425776" y="3188671"/>
            <a:ext cx="3335745" cy="1669851"/>
            <a:chOff x="0" y="0"/>
            <a:chExt cx="878550" cy="43979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78550" cy="439796"/>
            </a:xfrm>
            <a:custGeom>
              <a:avLst/>
              <a:gdLst/>
              <a:ahLst/>
              <a:cxnLst/>
              <a:rect l="l" t="t" r="r" b="b"/>
              <a:pathLst>
                <a:path w="878550" h="439796">
                  <a:moveTo>
                    <a:pt x="118366" y="0"/>
                  </a:moveTo>
                  <a:lnTo>
                    <a:pt x="760184" y="0"/>
                  </a:lnTo>
                  <a:cubicBezTo>
                    <a:pt x="825556" y="0"/>
                    <a:pt x="878550" y="52994"/>
                    <a:pt x="878550" y="118366"/>
                  </a:cubicBezTo>
                  <a:lnTo>
                    <a:pt x="878550" y="321430"/>
                  </a:lnTo>
                  <a:cubicBezTo>
                    <a:pt x="878550" y="386802"/>
                    <a:pt x="825556" y="439796"/>
                    <a:pt x="760184" y="439796"/>
                  </a:cubicBezTo>
                  <a:lnTo>
                    <a:pt x="118366" y="439796"/>
                  </a:lnTo>
                  <a:cubicBezTo>
                    <a:pt x="86973" y="439796"/>
                    <a:pt x="56866" y="427326"/>
                    <a:pt x="34669" y="405128"/>
                  </a:cubicBezTo>
                  <a:cubicBezTo>
                    <a:pt x="12471" y="382930"/>
                    <a:pt x="0" y="352823"/>
                    <a:pt x="0" y="321430"/>
                  </a:cubicBezTo>
                  <a:lnTo>
                    <a:pt x="0" y="118366"/>
                  </a:lnTo>
                  <a:cubicBezTo>
                    <a:pt x="0" y="52994"/>
                    <a:pt x="52994" y="0"/>
                    <a:pt x="118366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878550" cy="5350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790835" y="3201173"/>
            <a:ext cx="2605627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spc="-18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 Self-Management Framework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78341" y="8032416"/>
            <a:ext cx="2605627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spc="-18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Individual Mentoring Session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77611" y="4267973"/>
            <a:ext cx="260562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spc="-18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Life Design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198468" y="8004191"/>
            <a:ext cx="2605627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spc="-18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 Management Skills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164388" y="3201173"/>
            <a:ext cx="2605627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spc="-18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Enhanced Employability. Social Capital</a:t>
            </a:r>
          </a:p>
        </p:txBody>
      </p:sp>
      <p:sp>
        <p:nvSpPr>
          <p:cNvPr id="29" name="Freeform 29"/>
          <p:cNvSpPr/>
          <p:nvPr/>
        </p:nvSpPr>
        <p:spPr>
          <a:xfrm>
            <a:off x="-3636" y="6132605"/>
            <a:ext cx="1571595" cy="607029"/>
          </a:xfrm>
          <a:custGeom>
            <a:avLst/>
            <a:gdLst/>
            <a:ahLst/>
            <a:cxnLst/>
            <a:rect l="l" t="t" r="r" b="b"/>
            <a:pathLst>
              <a:path w="1571595" h="607029">
                <a:moveTo>
                  <a:pt x="0" y="0"/>
                </a:moveTo>
                <a:lnTo>
                  <a:pt x="1571595" y="0"/>
                </a:lnTo>
                <a:lnTo>
                  <a:pt x="1571595" y="607029"/>
                </a:lnTo>
                <a:lnTo>
                  <a:pt x="0" y="6070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319595" y="3586528"/>
            <a:ext cx="3335745" cy="1337888"/>
            <a:chOff x="0" y="0"/>
            <a:chExt cx="878550" cy="35236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78550" cy="352366"/>
            </a:xfrm>
            <a:custGeom>
              <a:avLst/>
              <a:gdLst/>
              <a:ahLst/>
              <a:cxnLst/>
              <a:rect l="l" t="t" r="r" b="b"/>
              <a:pathLst>
                <a:path w="878550" h="352366">
                  <a:moveTo>
                    <a:pt x="118366" y="0"/>
                  </a:moveTo>
                  <a:lnTo>
                    <a:pt x="760184" y="0"/>
                  </a:lnTo>
                  <a:cubicBezTo>
                    <a:pt x="825556" y="0"/>
                    <a:pt x="878550" y="52994"/>
                    <a:pt x="878550" y="118366"/>
                  </a:cubicBezTo>
                  <a:lnTo>
                    <a:pt x="878550" y="234000"/>
                  </a:lnTo>
                  <a:cubicBezTo>
                    <a:pt x="878550" y="299371"/>
                    <a:pt x="825556" y="352366"/>
                    <a:pt x="760184" y="352366"/>
                  </a:cubicBezTo>
                  <a:lnTo>
                    <a:pt x="118366" y="352366"/>
                  </a:lnTo>
                  <a:cubicBezTo>
                    <a:pt x="86973" y="352366"/>
                    <a:pt x="56866" y="339895"/>
                    <a:pt x="34669" y="317697"/>
                  </a:cubicBezTo>
                  <a:cubicBezTo>
                    <a:pt x="12471" y="295499"/>
                    <a:pt x="0" y="265392"/>
                    <a:pt x="0" y="234000"/>
                  </a:cubicBezTo>
                  <a:lnTo>
                    <a:pt x="0" y="118366"/>
                  </a:lnTo>
                  <a:cubicBezTo>
                    <a:pt x="0" y="52994"/>
                    <a:pt x="52994" y="0"/>
                    <a:pt x="118366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878550" cy="447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7475" y="7947041"/>
            <a:ext cx="3335745" cy="1337888"/>
            <a:chOff x="0" y="0"/>
            <a:chExt cx="878550" cy="35236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78550" cy="352366"/>
            </a:xfrm>
            <a:custGeom>
              <a:avLst/>
              <a:gdLst/>
              <a:ahLst/>
              <a:cxnLst/>
              <a:rect l="l" t="t" r="r" b="b"/>
              <a:pathLst>
                <a:path w="878550" h="352366">
                  <a:moveTo>
                    <a:pt x="118366" y="0"/>
                  </a:moveTo>
                  <a:lnTo>
                    <a:pt x="760184" y="0"/>
                  </a:lnTo>
                  <a:cubicBezTo>
                    <a:pt x="825556" y="0"/>
                    <a:pt x="878550" y="52994"/>
                    <a:pt x="878550" y="118366"/>
                  </a:cubicBezTo>
                  <a:lnTo>
                    <a:pt x="878550" y="234000"/>
                  </a:lnTo>
                  <a:cubicBezTo>
                    <a:pt x="878550" y="299371"/>
                    <a:pt x="825556" y="352366"/>
                    <a:pt x="760184" y="352366"/>
                  </a:cubicBezTo>
                  <a:lnTo>
                    <a:pt x="118366" y="352366"/>
                  </a:lnTo>
                  <a:cubicBezTo>
                    <a:pt x="86973" y="352366"/>
                    <a:pt x="56866" y="339895"/>
                    <a:pt x="34669" y="317697"/>
                  </a:cubicBezTo>
                  <a:cubicBezTo>
                    <a:pt x="12471" y="295499"/>
                    <a:pt x="0" y="265392"/>
                    <a:pt x="0" y="234000"/>
                  </a:cubicBezTo>
                  <a:lnTo>
                    <a:pt x="0" y="118366"/>
                  </a:lnTo>
                  <a:cubicBezTo>
                    <a:pt x="0" y="52994"/>
                    <a:pt x="52994" y="0"/>
                    <a:pt x="118366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0"/>
              <a:ext cx="878550" cy="447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13282" y="7951947"/>
            <a:ext cx="3335745" cy="1799238"/>
            <a:chOff x="0" y="0"/>
            <a:chExt cx="878550" cy="47387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78550" cy="473873"/>
            </a:xfrm>
            <a:custGeom>
              <a:avLst/>
              <a:gdLst/>
              <a:ahLst/>
              <a:cxnLst/>
              <a:rect l="l" t="t" r="r" b="b"/>
              <a:pathLst>
                <a:path w="878550" h="473873">
                  <a:moveTo>
                    <a:pt x="118366" y="0"/>
                  </a:moveTo>
                  <a:lnTo>
                    <a:pt x="760184" y="0"/>
                  </a:lnTo>
                  <a:cubicBezTo>
                    <a:pt x="825556" y="0"/>
                    <a:pt x="878550" y="52994"/>
                    <a:pt x="878550" y="118366"/>
                  </a:cubicBezTo>
                  <a:lnTo>
                    <a:pt x="878550" y="355508"/>
                  </a:lnTo>
                  <a:cubicBezTo>
                    <a:pt x="878550" y="420879"/>
                    <a:pt x="825556" y="473873"/>
                    <a:pt x="760184" y="473873"/>
                  </a:cubicBezTo>
                  <a:lnTo>
                    <a:pt x="118366" y="473873"/>
                  </a:lnTo>
                  <a:cubicBezTo>
                    <a:pt x="52994" y="473873"/>
                    <a:pt x="0" y="420879"/>
                    <a:pt x="0" y="355508"/>
                  </a:cubicBezTo>
                  <a:lnTo>
                    <a:pt x="0" y="118366"/>
                  </a:lnTo>
                  <a:cubicBezTo>
                    <a:pt x="0" y="52994"/>
                    <a:pt x="52994" y="0"/>
                    <a:pt x="118366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0"/>
              <a:ext cx="878550" cy="5691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792002" y="7923722"/>
            <a:ext cx="3335745" cy="1799238"/>
            <a:chOff x="0" y="0"/>
            <a:chExt cx="878550" cy="47387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78550" cy="473873"/>
            </a:xfrm>
            <a:custGeom>
              <a:avLst/>
              <a:gdLst/>
              <a:ahLst/>
              <a:cxnLst/>
              <a:rect l="l" t="t" r="r" b="b"/>
              <a:pathLst>
                <a:path w="878550" h="473873">
                  <a:moveTo>
                    <a:pt x="118366" y="0"/>
                  </a:moveTo>
                  <a:lnTo>
                    <a:pt x="760184" y="0"/>
                  </a:lnTo>
                  <a:cubicBezTo>
                    <a:pt x="825556" y="0"/>
                    <a:pt x="878550" y="52994"/>
                    <a:pt x="878550" y="118366"/>
                  </a:cubicBezTo>
                  <a:lnTo>
                    <a:pt x="878550" y="355508"/>
                  </a:lnTo>
                  <a:cubicBezTo>
                    <a:pt x="878550" y="420879"/>
                    <a:pt x="825556" y="473873"/>
                    <a:pt x="760184" y="473873"/>
                  </a:cubicBezTo>
                  <a:lnTo>
                    <a:pt x="118366" y="473873"/>
                  </a:lnTo>
                  <a:cubicBezTo>
                    <a:pt x="52994" y="473873"/>
                    <a:pt x="0" y="420879"/>
                    <a:pt x="0" y="355508"/>
                  </a:cubicBezTo>
                  <a:lnTo>
                    <a:pt x="0" y="118366"/>
                  </a:lnTo>
                  <a:cubicBezTo>
                    <a:pt x="0" y="52994"/>
                    <a:pt x="52994" y="0"/>
                    <a:pt x="118366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95250"/>
              <a:ext cx="878550" cy="5691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799329" y="3125178"/>
            <a:ext cx="3335745" cy="1799238"/>
            <a:chOff x="0" y="0"/>
            <a:chExt cx="878550" cy="47387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78550" cy="473873"/>
            </a:xfrm>
            <a:custGeom>
              <a:avLst/>
              <a:gdLst/>
              <a:ahLst/>
              <a:cxnLst/>
              <a:rect l="l" t="t" r="r" b="b"/>
              <a:pathLst>
                <a:path w="878550" h="473873">
                  <a:moveTo>
                    <a:pt x="118366" y="0"/>
                  </a:moveTo>
                  <a:lnTo>
                    <a:pt x="760184" y="0"/>
                  </a:lnTo>
                  <a:cubicBezTo>
                    <a:pt x="825556" y="0"/>
                    <a:pt x="878550" y="52994"/>
                    <a:pt x="878550" y="118366"/>
                  </a:cubicBezTo>
                  <a:lnTo>
                    <a:pt x="878550" y="355508"/>
                  </a:lnTo>
                  <a:cubicBezTo>
                    <a:pt x="878550" y="420879"/>
                    <a:pt x="825556" y="473873"/>
                    <a:pt x="760184" y="473873"/>
                  </a:cubicBezTo>
                  <a:lnTo>
                    <a:pt x="118366" y="473873"/>
                  </a:lnTo>
                  <a:cubicBezTo>
                    <a:pt x="52994" y="473873"/>
                    <a:pt x="0" y="420879"/>
                    <a:pt x="0" y="355508"/>
                  </a:cubicBezTo>
                  <a:lnTo>
                    <a:pt x="0" y="118366"/>
                  </a:lnTo>
                  <a:cubicBezTo>
                    <a:pt x="0" y="52994"/>
                    <a:pt x="52994" y="0"/>
                    <a:pt x="118366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95250"/>
              <a:ext cx="878550" cy="5691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529936" y="4255471"/>
            <a:ext cx="3335745" cy="603051"/>
            <a:chOff x="0" y="0"/>
            <a:chExt cx="878550" cy="15882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78550" cy="158828"/>
            </a:xfrm>
            <a:custGeom>
              <a:avLst/>
              <a:gdLst/>
              <a:ahLst/>
              <a:cxnLst/>
              <a:rect l="l" t="t" r="r" b="b"/>
              <a:pathLst>
                <a:path w="878550" h="158828">
                  <a:moveTo>
                    <a:pt x="79414" y="0"/>
                  </a:moveTo>
                  <a:lnTo>
                    <a:pt x="799136" y="0"/>
                  </a:lnTo>
                  <a:cubicBezTo>
                    <a:pt x="842995" y="0"/>
                    <a:pt x="878550" y="35555"/>
                    <a:pt x="878550" y="79414"/>
                  </a:cubicBezTo>
                  <a:lnTo>
                    <a:pt x="878550" y="79414"/>
                  </a:lnTo>
                  <a:cubicBezTo>
                    <a:pt x="878550" y="123273"/>
                    <a:pt x="842995" y="158828"/>
                    <a:pt x="799136" y="158828"/>
                  </a:cubicBezTo>
                  <a:lnTo>
                    <a:pt x="79414" y="158828"/>
                  </a:lnTo>
                  <a:cubicBezTo>
                    <a:pt x="35555" y="158828"/>
                    <a:pt x="0" y="123273"/>
                    <a:pt x="0" y="79414"/>
                  </a:cubicBezTo>
                  <a:lnTo>
                    <a:pt x="0" y="79414"/>
                  </a:lnTo>
                  <a:cubicBezTo>
                    <a:pt x="0" y="35555"/>
                    <a:pt x="35555" y="0"/>
                    <a:pt x="79414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95250"/>
              <a:ext cx="878550" cy="2540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358983" y="856435"/>
            <a:ext cx="1673954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CareerDrive</a:t>
            </a:r>
            <a:endParaRPr lang="en-US" sz="1999" b="1" spc="3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9956884" y="846910"/>
            <a:ext cx="7302416" cy="37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88"/>
              </a:lnSpc>
              <a:spcBef>
                <a:spcPct val="0"/>
              </a:spcBef>
            </a:pPr>
            <a:r>
              <a:rPr lang="en-US" sz="2206" b="1" spc="4" dirty="0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Find Your Path and Fuel Your Future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828777" y="871280"/>
            <a:ext cx="5915423" cy="16586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13579"/>
              </a:lnSpc>
              <a:spcBef>
                <a:spcPct val="0"/>
              </a:spcBef>
            </a:pPr>
            <a:r>
              <a:rPr lang="en-US" sz="9699" b="1" spc="-59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Roadmap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1618" y="4593935"/>
            <a:ext cx="7743917" cy="5117359"/>
            <a:chOff x="0" y="0"/>
            <a:chExt cx="2039550" cy="13477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9550" cy="1347782"/>
            </a:xfrm>
            <a:custGeom>
              <a:avLst/>
              <a:gdLst/>
              <a:ahLst/>
              <a:cxnLst/>
              <a:rect l="l" t="t" r="r" b="b"/>
              <a:pathLst>
                <a:path w="2039550" h="1347782">
                  <a:moveTo>
                    <a:pt x="50987" y="0"/>
                  </a:moveTo>
                  <a:lnTo>
                    <a:pt x="1988563" y="0"/>
                  </a:lnTo>
                  <a:cubicBezTo>
                    <a:pt x="2016722" y="0"/>
                    <a:pt x="2039550" y="22828"/>
                    <a:pt x="2039550" y="50987"/>
                  </a:cubicBezTo>
                  <a:lnTo>
                    <a:pt x="2039550" y="1296795"/>
                  </a:lnTo>
                  <a:cubicBezTo>
                    <a:pt x="2039550" y="1310317"/>
                    <a:pt x="2034178" y="1323286"/>
                    <a:pt x="2024616" y="1332848"/>
                  </a:cubicBezTo>
                  <a:cubicBezTo>
                    <a:pt x="2015055" y="1342410"/>
                    <a:pt x="2002086" y="1347782"/>
                    <a:pt x="1988563" y="1347782"/>
                  </a:cubicBezTo>
                  <a:lnTo>
                    <a:pt x="50987" y="1347782"/>
                  </a:lnTo>
                  <a:cubicBezTo>
                    <a:pt x="22828" y="1347782"/>
                    <a:pt x="0" y="1324954"/>
                    <a:pt x="0" y="1296795"/>
                  </a:cubicBezTo>
                  <a:lnTo>
                    <a:pt x="0" y="50987"/>
                  </a:lnTo>
                  <a:cubicBezTo>
                    <a:pt x="0" y="22828"/>
                    <a:pt x="22828" y="0"/>
                    <a:pt x="50987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039550" cy="1443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-643541" y="1168205"/>
            <a:ext cx="2175010" cy="2186939"/>
          </a:xfrm>
          <a:custGeom>
            <a:avLst/>
            <a:gdLst/>
            <a:ahLst/>
            <a:cxnLst/>
            <a:rect l="l" t="t" r="r" b="b"/>
            <a:pathLst>
              <a:path w="2175010" h="2186939">
                <a:moveTo>
                  <a:pt x="2175011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1" y="2186939"/>
                </a:lnTo>
                <a:lnTo>
                  <a:pt x="217501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0101810" y="3581784"/>
            <a:ext cx="7756719" cy="6129510"/>
            <a:chOff x="0" y="0"/>
            <a:chExt cx="2042922" cy="16143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42922" cy="1614357"/>
            </a:xfrm>
            <a:custGeom>
              <a:avLst/>
              <a:gdLst/>
              <a:ahLst/>
              <a:cxnLst/>
              <a:rect l="l" t="t" r="r" b="b"/>
              <a:pathLst>
                <a:path w="2042922" h="1614357">
                  <a:moveTo>
                    <a:pt x="50903" y="0"/>
                  </a:moveTo>
                  <a:lnTo>
                    <a:pt x="1992019" y="0"/>
                  </a:lnTo>
                  <a:cubicBezTo>
                    <a:pt x="2005519" y="0"/>
                    <a:pt x="2018467" y="5363"/>
                    <a:pt x="2028013" y="14909"/>
                  </a:cubicBezTo>
                  <a:cubicBezTo>
                    <a:pt x="2037559" y="24455"/>
                    <a:pt x="2042922" y="37402"/>
                    <a:pt x="2042922" y="50903"/>
                  </a:cubicBezTo>
                  <a:lnTo>
                    <a:pt x="2042922" y="1563454"/>
                  </a:lnTo>
                  <a:cubicBezTo>
                    <a:pt x="2042922" y="1576954"/>
                    <a:pt x="2037559" y="1589901"/>
                    <a:pt x="2028013" y="1599447"/>
                  </a:cubicBezTo>
                  <a:cubicBezTo>
                    <a:pt x="2018467" y="1608994"/>
                    <a:pt x="2005519" y="1614357"/>
                    <a:pt x="1992019" y="1614357"/>
                  </a:cubicBezTo>
                  <a:lnTo>
                    <a:pt x="50903" y="1614357"/>
                  </a:lnTo>
                  <a:cubicBezTo>
                    <a:pt x="37402" y="1614357"/>
                    <a:pt x="24455" y="1608994"/>
                    <a:pt x="14909" y="1599447"/>
                  </a:cubicBezTo>
                  <a:cubicBezTo>
                    <a:pt x="5363" y="1589901"/>
                    <a:pt x="0" y="1576954"/>
                    <a:pt x="0" y="1563454"/>
                  </a:cubicBezTo>
                  <a:lnTo>
                    <a:pt x="0" y="50903"/>
                  </a:lnTo>
                  <a:cubicBezTo>
                    <a:pt x="0" y="37402"/>
                    <a:pt x="5363" y="24455"/>
                    <a:pt x="14909" y="14909"/>
                  </a:cubicBezTo>
                  <a:cubicBezTo>
                    <a:pt x="24455" y="5363"/>
                    <a:pt x="37402" y="0"/>
                    <a:pt x="50903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2042922" cy="1709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01810" y="4575474"/>
            <a:ext cx="7756719" cy="5135819"/>
            <a:chOff x="0" y="0"/>
            <a:chExt cx="2042922" cy="13526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42922" cy="1352644"/>
            </a:xfrm>
            <a:custGeom>
              <a:avLst/>
              <a:gdLst/>
              <a:ahLst/>
              <a:cxnLst/>
              <a:rect l="l" t="t" r="r" b="b"/>
              <a:pathLst>
                <a:path w="2042922" h="1352644">
                  <a:moveTo>
                    <a:pt x="50903" y="0"/>
                  </a:moveTo>
                  <a:lnTo>
                    <a:pt x="1992019" y="0"/>
                  </a:lnTo>
                  <a:cubicBezTo>
                    <a:pt x="2005519" y="0"/>
                    <a:pt x="2018467" y="5363"/>
                    <a:pt x="2028013" y="14909"/>
                  </a:cubicBezTo>
                  <a:cubicBezTo>
                    <a:pt x="2037559" y="24455"/>
                    <a:pt x="2042922" y="37402"/>
                    <a:pt x="2042922" y="50903"/>
                  </a:cubicBezTo>
                  <a:lnTo>
                    <a:pt x="2042922" y="1301741"/>
                  </a:lnTo>
                  <a:cubicBezTo>
                    <a:pt x="2042922" y="1315241"/>
                    <a:pt x="2037559" y="1328189"/>
                    <a:pt x="2028013" y="1337735"/>
                  </a:cubicBezTo>
                  <a:cubicBezTo>
                    <a:pt x="2018467" y="1347281"/>
                    <a:pt x="2005519" y="1352644"/>
                    <a:pt x="1992019" y="1352644"/>
                  </a:cubicBezTo>
                  <a:lnTo>
                    <a:pt x="50903" y="1352644"/>
                  </a:lnTo>
                  <a:cubicBezTo>
                    <a:pt x="37402" y="1352644"/>
                    <a:pt x="24455" y="1347281"/>
                    <a:pt x="14909" y="1337735"/>
                  </a:cubicBezTo>
                  <a:cubicBezTo>
                    <a:pt x="5363" y="1328189"/>
                    <a:pt x="0" y="1315241"/>
                    <a:pt x="0" y="1301741"/>
                  </a:cubicBezTo>
                  <a:lnTo>
                    <a:pt x="0" y="50903"/>
                  </a:lnTo>
                  <a:cubicBezTo>
                    <a:pt x="0" y="37402"/>
                    <a:pt x="5363" y="24455"/>
                    <a:pt x="14909" y="14909"/>
                  </a:cubicBezTo>
                  <a:cubicBezTo>
                    <a:pt x="24455" y="5363"/>
                    <a:pt x="37402" y="0"/>
                    <a:pt x="50903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2042922" cy="1447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61859" y="1787012"/>
            <a:ext cx="3357741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000"/>
              </a:lnSpc>
              <a:spcBef>
                <a:spcPct val="0"/>
              </a:spcBef>
            </a:pPr>
            <a:r>
              <a:rPr lang="en-US" sz="5000" b="1" spc="-305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Curriculum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84736" y="1364737"/>
            <a:ext cx="7998263" cy="1679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-36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New Career Reality</a:t>
            </a:r>
          </a:p>
          <a:p>
            <a:pPr marL="0" lvl="0" indent="0" algn="r">
              <a:lnSpc>
                <a:spcPts val="4900"/>
              </a:lnSpc>
              <a:spcBef>
                <a:spcPct val="0"/>
              </a:spcBef>
            </a:pPr>
            <a:r>
              <a:rPr lang="en-US" sz="3500" i="1" spc="-21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From Ladder to Playground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81618" y="3581784"/>
            <a:ext cx="7743917" cy="6129510"/>
            <a:chOff x="0" y="0"/>
            <a:chExt cx="2039550" cy="16143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39550" cy="1614357"/>
            </a:xfrm>
            <a:custGeom>
              <a:avLst/>
              <a:gdLst/>
              <a:ahLst/>
              <a:cxnLst/>
              <a:rect l="l" t="t" r="r" b="b"/>
              <a:pathLst>
                <a:path w="2039550" h="1614357">
                  <a:moveTo>
                    <a:pt x="50987" y="0"/>
                  </a:moveTo>
                  <a:lnTo>
                    <a:pt x="1988563" y="0"/>
                  </a:lnTo>
                  <a:cubicBezTo>
                    <a:pt x="2016722" y="0"/>
                    <a:pt x="2039550" y="22828"/>
                    <a:pt x="2039550" y="50987"/>
                  </a:cubicBezTo>
                  <a:lnTo>
                    <a:pt x="2039550" y="1563370"/>
                  </a:lnTo>
                  <a:cubicBezTo>
                    <a:pt x="2039550" y="1576892"/>
                    <a:pt x="2034178" y="1589861"/>
                    <a:pt x="2024616" y="1599423"/>
                  </a:cubicBezTo>
                  <a:cubicBezTo>
                    <a:pt x="2015055" y="1608985"/>
                    <a:pt x="2002086" y="1614357"/>
                    <a:pt x="1988563" y="1614357"/>
                  </a:cubicBezTo>
                  <a:lnTo>
                    <a:pt x="50987" y="1614357"/>
                  </a:lnTo>
                  <a:cubicBezTo>
                    <a:pt x="22828" y="1614357"/>
                    <a:pt x="0" y="1591529"/>
                    <a:pt x="0" y="1563370"/>
                  </a:cubicBezTo>
                  <a:lnTo>
                    <a:pt x="0" y="50987"/>
                  </a:lnTo>
                  <a:cubicBezTo>
                    <a:pt x="0" y="22828"/>
                    <a:pt x="22828" y="0"/>
                    <a:pt x="50987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2039550" cy="1709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060966" y="5057775"/>
            <a:ext cx="7181000" cy="3750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Modern World of Work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Game Over for the "One Life, One Job" Rule. 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Diploma as a Swiss Army Knife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Portfolio of Professional Selves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 as an Architect of daily life</a:t>
            </a:r>
            <a:endParaRPr lang="ru-RU" sz="2299" spc="4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 resilience begins with knowing yourself</a:t>
            </a:r>
          </a:p>
          <a:p>
            <a:pPr marL="248285" lvl="1" algn="l">
              <a:lnSpc>
                <a:spcPts val="3679"/>
              </a:lnSpc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84696" y="3735838"/>
            <a:ext cx="2197104" cy="669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243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In details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73285" y="5057775"/>
            <a:ext cx="6938299" cy="2801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Multi-path reality of the modern workplace.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University degree is a powerful launchpad for diverse trajectories</a:t>
            </a:r>
          </a:p>
          <a:p>
            <a:pPr marL="496569" lvl="1" indent="-248284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Seeing work as life design project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Self-awareness: first step in career design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Main lasting career skill — ability to learn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934007" y="3735838"/>
            <a:ext cx="2092325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243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Outputs</a:t>
            </a:r>
          </a:p>
        </p:txBody>
      </p:sp>
      <p:sp>
        <p:nvSpPr>
          <p:cNvPr id="21" name="TextBox 21"/>
          <p:cNvSpPr txBox="1"/>
          <p:nvPr/>
        </p:nvSpPr>
        <p:spPr>
          <a:xfrm rot="-5400000">
            <a:off x="-2120377" y="6082928"/>
            <a:ext cx="5515775" cy="112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6"/>
              </a:lnSpc>
              <a:spcBef>
                <a:spcPct val="0"/>
              </a:spcBef>
            </a:pPr>
            <a:r>
              <a:rPr lang="en-US" sz="6590" b="1" spc="1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CareerDrive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1980" y="380627"/>
            <a:ext cx="933420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4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Reality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94016" y="380805"/>
            <a:ext cx="195589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Professional Fit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59516" y="380627"/>
            <a:ext cx="198715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Self-awareness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56269" y="380627"/>
            <a:ext cx="230838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Self-Management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74253" y="380627"/>
            <a:ext cx="135118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Mentoring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935033" y="380805"/>
            <a:ext cx="1552367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Life Design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043154" y="380627"/>
            <a:ext cx="1577846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 skills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174849" y="380805"/>
            <a:ext cx="175117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Employability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45893" y="174273"/>
            <a:ext cx="1554610" cy="790533"/>
            <a:chOff x="0" y="0"/>
            <a:chExt cx="409445" cy="20820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09445" cy="208206"/>
            </a:xfrm>
            <a:custGeom>
              <a:avLst/>
              <a:gdLst/>
              <a:ahLst/>
              <a:cxnLst/>
              <a:rect l="l" t="t" r="r" b="b"/>
              <a:pathLst>
                <a:path w="409445" h="208206">
                  <a:moveTo>
                    <a:pt x="104103" y="0"/>
                  </a:moveTo>
                  <a:lnTo>
                    <a:pt x="305341" y="0"/>
                  </a:lnTo>
                  <a:cubicBezTo>
                    <a:pt x="362836" y="0"/>
                    <a:pt x="409445" y="46609"/>
                    <a:pt x="409445" y="104103"/>
                  </a:cubicBezTo>
                  <a:lnTo>
                    <a:pt x="409445" y="104103"/>
                  </a:lnTo>
                  <a:cubicBezTo>
                    <a:pt x="409445" y="131713"/>
                    <a:pt x="398477" y="158192"/>
                    <a:pt x="378953" y="177715"/>
                  </a:cubicBezTo>
                  <a:cubicBezTo>
                    <a:pt x="359430" y="197238"/>
                    <a:pt x="332951" y="208206"/>
                    <a:pt x="305341" y="208206"/>
                  </a:cubicBezTo>
                  <a:lnTo>
                    <a:pt x="104103" y="208206"/>
                  </a:lnTo>
                  <a:cubicBezTo>
                    <a:pt x="46609" y="208206"/>
                    <a:pt x="0" y="161598"/>
                    <a:pt x="0" y="104103"/>
                  </a:cubicBezTo>
                  <a:lnTo>
                    <a:pt x="0" y="104103"/>
                  </a:lnTo>
                  <a:cubicBezTo>
                    <a:pt x="0" y="46609"/>
                    <a:pt x="46609" y="0"/>
                    <a:pt x="104103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409445" cy="303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33" name="Freeform 33">
            <a:extLst>
              <a:ext uri="{FF2B5EF4-FFF2-40B4-BE49-F238E27FC236}">
                <a16:creationId xmlns:a16="http://schemas.microsoft.com/office/drawing/2014/main" id="{8A9F0A50-EE1D-8F9A-2D27-EE03400411A1}"/>
              </a:ext>
            </a:extLst>
          </p:cNvPr>
          <p:cNvSpPr/>
          <p:nvPr/>
        </p:nvSpPr>
        <p:spPr>
          <a:xfrm flipH="1">
            <a:off x="16002000" y="1181100"/>
            <a:ext cx="2175010" cy="2186939"/>
          </a:xfrm>
          <a:custGeom>
            <a:avLst/>
            <a:gdLst/>
            <a:ahLst/>
            <a:cxnLst/>
            <a:rect l="l" t="t" r="r" b="b"/>
            <a:pathLst>
              <a:path w="2175010" h="2186939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1618" y="3581784"/>
            <a:ext cx="7743917" cy="6129510"/>
            <a:chOff x="0" y="0"/>
            <a:chExt cx="2039550" cy="16143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9550" cy="1614357"/>
            </a:xfrm>
            <a:custGeom>
              <a:avLst/>
              <a:gdLst/>
              <a:ahLst/>
              <a:cxnLst/>
              <a:rect l="l" t="t" r="r" b="b"/>
              <a:pathLst>
                <a:path w="2039550" h="1614357">
                  <a:moveTo>
                    <a:pt x="50987" y="0"/>
                  </a:moveTo>
                  <a:lnTo>
                    <a:pt x="1988563" y="0"/>
                  </a:lnTo>
                  <a:cubicBezTo>
                    <a:pt x="2016722" y="0"/>
                    <a:pt x="2039550" y="22828"/>
                    <a:pt x="2039550" y="50987"/>
                  </a:cubicBezTo>
                  <a:lnTo>
                    <a:pt x="2039550" y="1563370"/>
                  </a:lnTo>
                  <a:cubicBezTo>
                    <a:pt x="2039550" y="1576892"/>
                    <a:pt x="2034178" y="1589861"/>
                    <a:pt x="2024616" y="1599423"/>
                  </a:cubicBezTo>
                  <a:cubicBezTo>
                    <a:pt x="2015055" y="1608985"/>
                    <a:pt x="2002086" y="1614357"/>
                    <a:pt x="1988563" y="1614357"/>
                  </a:cubicBezTo>
                  <a:lnTo>
                    <a:pt x="50987" y="1614357"/>
                  </a:lnTo>
                  <a:cubicBezTo>
                    <a:pt x="22828" y="1614357"/>
                    <a:pt x="0" y="1591529"/>
                    <a:pt x="0" y="1563370"/>
                  </a:cubicBezTo>
                  <a:lnTo>
                    <a:pt x="0" y="50987"/>
                  </a:lnTo>
                  <a:cubicBezTo>
                    <a:pt x="0" y="22828"/>
                    <a:pt x="22828" y="0"/>
                    <a:pt x="50987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039550" cy="1709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81618" y="4593935"/>
            <a:ext cx="7743917" cy="5117359"/>
            <a:chOff x="0" y="0"/>
            <a:chExt cx="2039550" cy="13477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9550" cy="1347782"/>
            </a:xfrm>
            <a:custGeom>
              <a:avLst/>
              <a:gdLst/>
              <a:ahLst/>
              <a:cxnLst/>
              <a:rect l="l" t="t" r="r" b="b"/>
              <a:pathLst>
                <a:path w="2039550" h="1347782">
                  <a:moveTo>
                    <a:pt x="50987" y="0"/>
                  </a:moveTo>
                  <a:lnTo>
                    <a:pt x="1988563" y="0"/>
                  </a:lnTo>
                  <a:cubicBezTo>
                    <a:pt x="2016722" y="0"/>
                    <a:pt x="2039550" y="22828"/>
                    <a:pt x="2039550" y="50987"/>
                  </a:cubicBezTo>
                  <a:lnTo>
                    <a:pt x="2039550" y="1296795"/>
                  </a:lnTo>
                  <a:cubicBezTo>
                    <a:pt x="2039550" y="1310317"/>
                    <a:pt x="2034178" y="1323286"/>
                    <a:pt x="2024616" y="1332848"/>
                  </a:cubicBezTo>
                  <a:cubicBezTo>
                    <a:pt x="2015055" y="1342410"/>
                    <a:pt x="2002086" y="1347782"/>
                    <a:pt x="1988563" y="1347782"/>
                  </a:cubicBezTo>
                  <a:lnTo>
                    <a:pt x="50987" y="1347782"/>
                  </a:lnTo>
                  <a:cubicBezTo>
                    <a:pt x="22828" y="1347782"/>
                    <a:pt x="0" y="1324954"/>
                    <a:pt x="0" y="1296795"/>
                  </a:cubicBezTo>
                  <a:lnTo>
                    <a:pt x="0" y="50987"/>
                  </a:lnTo>
                  <a:cubicBezTo>
                    <a:pt x="0" y="22828"/>
                    <a:pt x="22828" y="0"/>
                    <a:pt x="50987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2039550" cy="1443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101810" y="3581784"/>
            <a:ext cx="7756719" cy="6129510"/>
            <a:chOff x="0" y="0"/>
            <a:chExt cx="2042922" cy="16143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42922" cy="1614357"/>
            </a:xfrm>
            <a:custGeom>
              <a:avLst/>
              <a:gdLst/>
              <a:ahLst/>
              <a:cxnLst/>
              <a:rect l="l" t="t" r="r" b="b"/>
              <a:pathLst>
                <a:path w="2042922" h="1614357">
                  <a:moveTo>
                    <a:pt x="50903" y="0"/>
                  </a:moveTo>
                  <a:lnTo>
                    <a:pt x="1992019" y="0"/>
                  </a:lnTo>
                  <a:cubicBezTo>
                    <a:pt x="2005519" y="0"/>
                    <a:pt x="2018467" y="5363"/>
                    <a:pt x="2028013" y="14909"/>
                  </a:cubicBezTo>
                  <a:cubicBezTo>
                    <a:pt x="2037559" y="24455"/>
                    <a:pt x="2042922" y="37402"/>
                    <a:pt x="2042922" y="50903"/>
                  </a:cubicBezTo>
                  <a:lnTo>
                    <a:pt x="2042922" y="1563454"/>
                  </a:lnTo>
                  <a:cubicBezTo>
                    <a:pt x="2042922" y="1576954"/>
                    <a:pt x="2037559" y="1589901"/>
                    <a:pt x="2028013" y="1599447"/>
                  </a:cubicBezTo>
                  <a:cubicBezTo>
                    <a:pt x="2018467" y="1608994"/>
                    <a:pt x="2005519" y="1614357"/>
                    <a:pt x="1992019" y="1614357"/>
                  </a:cubicBezTo>
                  <a:lnTo>
                    <a:pt x="50903" y="1614357"/>
                  </a:lnTo>
                  <a:cubicBezTo>
                    <a:pt x="37402" y="1614357"/>
                    <a:pt x="24455" y="1608994"/>
                    <a:pt x="14909" y="1599447"/>
                  </a:cubicBezTo>
                  <a:cubicBezTo>
                    <a:pt x="5363" y="1589901"/>
                    <a:pt x="0" y="1576954"/>
                    <a:pt x="0" y="1563454"/>
                  </a:cubicBezTo>
                  <a:lnTo>
                    <a:pt x="0" y="50903"/>
                  </a:lnTo>
                  <a:cubicBezTo>
                    <a:pt x="0" y="37402"/>
                    <a:pt x="5363" y="24455"/>
                    <a:pt x="14909" y="14909"/>
                  </a:cubicBezTo>
                  <a:cubicBezTo>
                    <a:pt x="24455" y="5363"/>
                    <a:pt x="37402" y="0"/>
                    <a:pt x="50903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042922" cy="1709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01810" y="4575474"/>
            <a:ext cx="7756719" cy="5135819"/>
            <a:chOff x="0" y="0"/>
            <a:chExt cx="2042922" cy="13526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42922" cy="1352644"/>
            </a:xfrm>
            <a:custGeom>
              <a:avLst/>
              <a:gdLst/>
              <a:ahLst/>
              <a:cxnLst/>
              <a:rect l="l" t="t" r="r" b="b"/>
              <a:pathLst>
                <a:path w="2042922" h="1352644">
                  <a:moveTo>
                    <a:pt x="50903" y="0"/>
                  </a:moveTo>
                  <a:lnTo>
                    <a:pt x="1992019" y="0"/>
                  </a:lnTo>
                  <a:cubicBezTo>
                    <a:pt x="2005519" y="0"/>
                    <a:pt x="2018467" y="5363"/>
                    <a:pt x="2028013" y="14909"/>
                  </a:cubicBezTo>
                  <a:cubicBezTo>
                    <a:pt x="2037559" y="24455"/>
                    <a:pt x="2042922" y="37402"/>
                    <a:pt x="2042922" y="50903"/>
                  </a:cubicBezTo>
                  <a:lnTo>
                    <a:pt x="2042922" y="1301741"/>
                  </a:lnTo>
                  <a:cubicBezTo>
                    <a:pt x="2042922" y="1315241"/>
                    <a:pt x="2037559" y="1328189"/>
                    <a:pt x="2028013" y="1337735"/>
                  </a:cubicBezTo>
                  <a:cubicBezTo>
                    <a:pt x="2018467" y="1347281"/>
                    <a:pt x="2005519" y="1352644"/>
                    <a:pt x="1992019" y="1352644"/>
                  </a:cubicBezTo>
                  <a:lnTo>
                    <a:pt x="50903" y="1352644"/>
                  </a:lnTo>
                  <a:cubicBezTo>
                    <a:pt x="37402" y="1352644"/>
                    <a:pt x="24455" y="1347281"/>
                    <a:pt x="14909" y="1337735"/>
                  </a:cubicBezTo>
                  <a:cubicBezTo>
                    <a:pt x="5363" y="1328189"/>
                    <a:pt x="0" y="1315241"/>
                    <a:pt x="0" y="1301741"/>
                  </a:cubicBezTo>
                  <a:lnTo>
                    <a:pt x="0" y="50903"/>
                  </a:lnTo>
                  <a:cubicBezTo>
                    <a:pt x="0" y="37402"/>
                    <a:pt x="5363" y="24455"/>
                    <a:pt x="14909" y="14909"/>
                  </a:cubicBezTo>
                  <a:cubicBezTo>
                    <a:pt x="24455" y="5363"/>
                    <a:pt x="37402" y="0"/>
                    <a:pt x="50903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2042922" cy="1447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91135" y="5057775"/>
            <a:ext cx="6952865" cy="3750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 as Life Design Project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Beyond the Paycheck: The Deeper Returns of Work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Positive Psychology concept about Meaning of Work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Ikigai Model of Successful Career: Coherence between your profession and your personality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34007" y="3739483"/>
            <a:ext cx="2092325" cy="679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4000" b="1" spc="-244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Outputs</a:t>
            </a:r>
          </a:p>
        </p:txBody>
      </p:sp>
      <p:sp>
        <p:nvSpPr>
          <p:cNvPr id="16" name="Freeform 16"/>
          <p:cNvSpPr/>
          <p:nvPr/>
        </p:nvSpPr>
        <p:spPr>
          <a:xfrm flipH="1">
            <a:off x="-643541" y="1168205"/>
            <a:ext cx="2175010" cy="2186939"/>
          </a:xfrm>
          <a:custGeom>
            <a:avLst/>
            <a:gdLst/>
            <a:ahLst/>
            <a:cxnLst/>
            <a:rect l="l" t="t" r="r" b="b"/>
            <a:pathLst>
              <a:path w="2175010" h="2186939">
                <a:moveTo>
                  <a:pt x="2175011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1" y="2186939"/>
                </a:lnTo>
                <a:lnTo>
                  <a:pt x="217501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761859" y="1787012"/>
            <a:ext cx="3357741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000"/>
              </a:lnSpc>
              <a:spcBef>
                <a:spcPct val="0"/>
              </a:spcBef>
            </a:pPr>
            <a:r>
              <a:rPr lang="en-US" sz="5000" b="1" spc="-3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Curriculum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91198" y="1364737"/>
            <a:ext cx="9291802" cy="1679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-36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Professional Fit Framework</a:t>
            </a:r>
          </a:p>
          <a:p>
            <a:pPr marL="0" lvl="0" indent="0" algn="r">
              <a:lnSpc>
                <a:spcPts val="4900"/>
              </a:lnSpc>
              <a:spcBef>
                <a:spcPct val="0"/>
              </a:spcBef>
            </a:pPr>
            <a:r>
              <a:rPr lang="en-US" sz="3500" i="1" spc="-21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Strategy for Meaningful Career Choice</a:t>
            </a:r>
          </a:p>
        </p:txBody>
      </p:sp>
      <p:sp>
        <p:nvSpPr>
          <p:cNvPr id="19" name="TextBox 19"/>
          <p:cNvSpPr txBox="1"/>
          <p:nvPr/>
        </p:nvSpPr>
        <p:spPr>
          <a:xfrm rot="-5400000">
            <a:off x="-2120377" y="6082928"/>
            <a:ext cx="5515775" cy="112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6"/>
              </a:lnSpc>
              <a:spcBef>
                <a:spcPct val="0"/>
              </a:spcBef>
            </a:pPr>
            <a:r>
              <a:rPr lang="en-US" sz="6590" b="1" spc="1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CareerDrive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609156" y="5057775"/>
            <a:ext cx="6650144" cy="2769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Reframe work as a key part of life design, not just a means for a paycheck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Students’ audit their needs to create personal "blueprint" for meaningful work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Tool:  Personal Ikigai map to evaluate career coherence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81125" y="3739483"/>
            <a:ext cx="2133541" cy="679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4000" b="1" spc="-244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In details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9275" y="380627"/>
            <a:ext cx="906125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Reality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681618" y="174273"/>
            <a:ext cx="2459263" cy="790533"/>
            <a:chOff x="0" y="0"/>
            <a:chExt cx="647707" cy="20820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47707" cy="208206"/>
            </a:xfrm>
            <a:custGeom>
              <a:avLst/>
              <a:gdLst/>
              <a:ahLst/>
              <a:cxnLst/>
              <a:rect l="l" t="t" r="r" b="b"/>
              <a:pathLst>
                <a:path w="647707" h="208206">
                  <a:moveTo>
                    <a:pt x="104103" y="0"/>
                  </a:moveTo>
                  <a:lnTo>
                    <a:pt x="543604" y="0"/>
                  </a:lnTo>
                  <a:cubicBezTo>
                    <a:pt x="571214" y="0"/>
                    <a:pt x="597693" y="10968"/>
                    <a:pt x="617216" y="30491"/>
                  </a:cubicBezTo>
                  <a:cubicBezTo>
                    <a:pt x="636739" y="50014"/>
                    <a:pt x="647707" y="76493"/>
                    <a:pt x="647707" y="104103"/>
                  </a:cubicBezTo>
                  <a:lnTo>
                    <a:pt x="647707" y="104103"/>
                  </a:lnTo>
                  <a:cubicBezTo>
                    <a:pt x="647707" y="161598"/>
                    <a:pt x="601099" y="208206"/>
                    <a:pt x="543604" y="208206"/>
                  </a:cubicBezTo>
                  <a:lnTo>
                    <a:pt x="104103" y="208206"/>
                  </a:lnTo>
                  <a:cubicBezTo>
                    <a:pt x="46609" y="208206"/>
                    <a:pt x="0" y="161598"/>
                    <a:pt x="0" y="104103"/>
                  </a:cubicBezTo>
                  <a:lnTo>
                    <a:pt x="0" y="104103"/>
                  </a:lnTo>
                  <a:cubicBezTo>
                    <a:pt x="0" y="46609"/>
                    <a:pt x="46609" y="0"/>
                    <a:pt x="104103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647707" cy="303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836628" y="380805"/>
            <a:ext cx="2125772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4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Professional Fit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459516" y="380627"/>
            <a:ext cx="198715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Self-awareness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056269" y="380627"/>
            <a:ext cx="230838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Self-Management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74253" y="380627"/>
            <a:ext cx="135118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Mentoring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935033" y="380805"/>
            <a:ext cx="1552367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Life Design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043154" y="380627"/>
            <a:ext cx="1577846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 skills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174849" y="380805"/>
            <a:ext cx="175117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Employability</a:t>
            </a:r>
          </a:p>
        </p:txBody>
      </p:sp>
      <p:sp>
        <p:nvSpPr>
          <p:cNvPr id="22" name="Freeform 33">
            <a:extLst>
              <a:ext uri="{FF2B5EF4-FFF2-40B4-BE49-F238E27FC236}">
                <a16:creationId xmlns:a16="http://schemas.microsoft.com/office/drawing/2014/main" id="{4A4B4341-D1C8-4B9A-29BF-E87311641E59}"/>
              </a:ext>
            </a:extLst>
          </p:cNvPr>
          <p:cNvSpPr/>
          <p:nvPr/>
        </p:nvSpPr>
        <p:spPr>
          <a:xfrm flipH="1">
            <a:off x="16002000" y="1181100"/>
            <a:ext cx="2175010" cy="2186939"/>
          </a:xfrm>
          <a:custGeom>
            <a:avLst/>
            <a:gdLst/>
            <a:ahLst/>
            <a:cxnLst/>
            <a:rect l="l" t="t" r="r" b="b"/>
            <a:pathLst>
              <a:path w="2175010" h="2186939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1618" y="3581784"/>
            <a:ext cx="7743917" cy="6129510"/>
            <a:chOff x="0" y="0"/>
            <a:chExt cx="2039550" cy="16143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9550" cy="1614357"/>
            </a:xfrm>
            <a:custGeom>
              <a:avLst/>
              <a:gdLst/>
              <a:ahLst/>
              <a:cxnLst/>
              <a:rect l="l" t="t" r="r" b="b"/>
              <a:pathLst>
                <a:path w="2039550" h="1614357">
                  <a:moveTo>
                    <a:pt x="50987" y="0"/>
                  </a:moveTo>
                  <a:lnTo>
                    <a:pt x="1988563" y="0"/>
                  </a:lnTo>
                  <a:cubicBezTo>
                    <a:pt x="2016722" y="0"/>
                    <a:pt x="2039550" y="22828"/>
                    <a:pt x="2039550" y="50987"/>
                  </a:cubicBezTo>
                  <a:lnTo>
                    <a:pt x="2039550" y="1563370"/>
                  </a:lnTo>
                  <a:cubicBezTo>
                    <a:pt x="2039550" y="1576892"/>
                    <a:pt x="2034178" y="1589861"/>
                    <a:pt x="2024616" y="1599423"/>
                  </a:cubicBezTo>
                  <a:cubicBezTo>
                    <a:pt x="2015055" y="1608985"/>
                    <a:pt x="2002086" y="1614357"/>
                    <a:pt x="1988563" y="1614357"/>
                  </a:cubicBezTo>
                  <a:lnTo>
                    <a:pt x="50987" y="1614357"/>
                  </a:lnTo>
                  <a:cubicBezTo>
                    <a:pt x="22828" y="1614357"/>
                    <a:pt x="0" y="1591529"/>
                    <a:pt x="0" y="1563370"/>
                  </a:cubicBezTo>
                  <a:lnTo>
                    <a:pt x="0" y="50987"/>
                  </a:lnTo>
                  <a:cubicBezTo>
                    <a:pt x="0" y="22828"/>
                    <a:pt x="22828" y="0"/>
                    <a:pt x="50987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039550" cy="1709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101810" y="3581784"/>
            <a:ext cx="7756719" cy="6129510"/>
            <a:chOff x="0" y="0"/>
            <a:chExt cx="2042922" cy="16143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42922" cy="1614357"/>
            </a:xfrm>
            <a:custGeom>
              <a:avLst/>
              <a:gdLst/>
              <a:ahLst/>
              <a:cxnLst/>
              <a:rect l="l" t="t" r="r" b="b"/>
              <a:pathLst>
                <a:path w="2042922" h="1614357">
                  <a:moveTo>
                    <a:pt x="50903" y="0"/>
                  </a:moveTo>
                  <a:lnTo>
                    <a:pt x="1992019" y="0"/>
                  </a:lnTo>
                  <a:cubicBezTo>
                    <a:pt x="2005519" y="0"/>
                    <a:pt x="2018467" y="5363"/>
                    <a:pt x="2028013" y="14909"/>
                  </a:cubicBezTo>
                  <a:cubicBezTo>
                    <a:pt x="2037559" y="24455"/>
                    <a:pt x="2042922" y="37402"/>
                    <a:pt x="2042922" y="50903"/>
                  </a:cubicBezTo>
                  <a:lnTo>
                    <a:pt x="2042922" y="1563454"/>
                  </a:lnTo>
                  <a:cubicBezTo>
                    <a:pt x="2042922" y="1576954"/>
                    <a:pt x="2037559" y="1589901"/>
                    <a:pt x="2028013" y="1599447"/>
                  </a:cubicBezTo>
                  <a:cubicBezTo>
                    <a:pt x="2018467" y="1608994"/>
                    <a:pt x="2005519" y="1614357"/>
                    <a:pt x="1992019" y="1614357"/>
                  </a:cubicBezTo>
                  <a:lnTo>
                    <a:pt x="50903" y="1614357"/>
                  </a:lnTo>
                  <a:cubicBezTo>
                    <a:pt x="37402" y="1614357"/>
                    <a:pt x="24455" y="1608994"/>
                    <a:pt x="14909" y="1599447"/>
                  </a:cubicBezTo>
                  <a:cubicBezTo>
                    <a:pt x="5363" y="1589901"/>
                    <a:pt x="0" y="1576954"/>
                    <a:pt x="0" y="1563454"/>
                  </a:cubicBezTo>
                  <a:lnTo>
                    <a:pt x="0" y="50903"/>
                  </a:lnTo>
                  <a:cubicBezTo>
                    <a:pt x="0" y="37402"/>
                    <a:pt x="5363" y="24455"/>
                    <a:pt x="14909" y="14909"/>
                  </a:cubicBezTo>
                  <a:cubicBezTo>
                    <a:pt x="24455" y="5363"/>
                    <a:pt x="37402" y="0"/>
                    <a:pt x="50903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2042922" cy="1709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101810" y="4593935"/>
            <a:ext cx="7756719" cy="5117359"/>
            <a:chOff x="0" y="0"/>
            <a:chExt cx="2042922" cy="13477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42922" cy="1347782"/>
            </a:xfrm>
            <a:custGeom>
              <a:avLst/>
              <a:gdLst/>
              <a:ahLst/>
              <a:cxnLst/>
              <a:rect l="l" t="t" r="r" b="b"/>
              <a:pathLst>
                <a:path w="2042922" h="1347782">
                  <a:moveTo>
                    <a:pt x="50903" y="0"/>
                  </a:moveTo>
                  <a:lnTo>
                    <a:pt x="1992019" y="0"/>
                  </a:lnTo>
                  <a:cubicBezTo>
                    <a:pt x="2005519" y="0"/>
                    <a:pt x="2018467" y="5363"/>
                    <a:pt x="2028013" y="14909"/>
                  </a:cubicBezTo>
                  <a:cubicBezTo>
                    <a:pt x="2037559" y="24455"/>
                    <a:pt x="2042922" y="37402"/>
                    <a:pt x="2042922" y="50903"/>
                  </a:cubicBezTo>
                  <a:lnTo>
                    <a:pt x="2042922" y="1296879"/>
                  </a:lnTo>
                  <a:cubicBezTo>
                    <a:pt x="2042922" y="1310379"/>
                    <a:pt x="2037559" y="1323326"/>
                    <a:pt x="2028013" y="1332873"/>
                  </a:cubicBezTo>
                  <a:cubicBezTo>
                    <a:pt x="2018467" y="1342419"/>
                    <a:pt x="2005519" y="1347782"/>
                    <a:pt x="1992019" y="1347782"/>
                  </a:cubicBezTo>
                  <a:lnTo>
                    <a:pt x="50903" y="1347782"/>
                  </a:lnTo>
                  <a:cubicBezTo>
                    <a:pt x="37402" y="1347782"/>
                    <a:pt x="24455" y="1342419"/>
                    <a:pt x="14909" y="1332873"/>
                  </a:cubicBezTo>
                  <a:cubicBezTo>
                    <a:pt x="5363" y="1323326"/>
                    <a:pt x="0" y="1310379"/>
                    <a:pt x="0" y="1296879"/>
                  </a:cubicBezTo>
                  <a:lnTo>
                    <a:pt x="0" y="50903"/>
                  </a:lnTo>
                  <a:cubicBezTo>
                    <a:pt x="0" y="37402"/>
                    <a:pt x="5363" y="24455"/>
                    <a:pt x="14909" y="14909"/>
                  </a:cubicBezTo>
                  <a:cubicBezTo>
                    <a:pt x="24455" y="5363"/>
                    <a:pt x="37402" y="0"/>
                    <a:pt x="50903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042922" cy="1443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81618" y="4593935"/>
            <a:ext cx="7743917" cy="5117359"/>
            <a:chOff x="0" y="0"/>
            <a:chExt cx="2039550" cy="134778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39550" cy="1347782"/>
            </a:xfrm>
            <a:custGeom>
              <a:avLst/>
              <a:gdLst/>
              <a:ahLst/>
              <a:cxnLst/>
              <a:rect l="l" t="t" r="r" b="b"/>
              <a:pathLst>
                <a:path w="2039550" h="1347782">
                  <a:moveTo>
                    <a:pt x="50987" y="0"/>
                  </a:moveTo>
                  <a:lnTo>
                    <a:pt x="1988563" y="0"/>
                  </a:lnTo>
                  <a:cubicBezTo>
                    <a:pt x="2016722" y="0"/>
                    <a:pt x="2039550" y="22828"/>
                    <a:pt x="2039550" y="50987"/>
                  </a:cubicBezTo>
                  <a:lnTo>
                    <a:pt x="2039550" y="1296795"/>
                  </a:lnTo>
                  <a:cubicBezTo>
                    <a:pt x="2039550" y="1310317"/>
                    <a:pt x="2034178" y="1323286"/>
                    <a:pt x="2024616" y="1332848"/>
                  </a:cubicBezTo>
                  <a:cubicBezTo>
                    <a:pt x="2015055" y="1342410"/>
                    <a:pt x="2002086" y="1347782"/>
                    <a:pt x="1988563" y="1347782"/>
                  </a:cubicBezTo>
                  <a:lnTo>
                    <a:pt x="50987" y="1347782"/>
                  </a:lnTo>
                  <a:cubicBezTo>
                    <a:pt x="22828" y="1347782"/>
                    <a:pt x="0" y="1324954"/>
                    <a:pt x="0" y="1296795"/>
                  </a:cubicBezTo>
                  <a:lnTo>
                    <a:pt x="0" y="50987"/>
                  </a:lnTo>
                  <a:cubicBezTo>
                    <a:pt x="0" y="22828"/>
                    <a:pt x="22828" y="0"/>
                    <a:pt x="50987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2039550" cy="1443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21757" y="5057775"/>
            <a:ext cx="6102038" cy="2769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Model of Personal Career Capital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Self-reflection as key capability for meaningful career choice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Core Strength and Transferable Skills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Professional Interest as a Renewable source of working energy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12196" y="5057775"/>
            <a:ext cx="5879584" cy="2769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Skills, Strength and Interest Inventory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name superpower and drivers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Know personal Source of Energy for doing  job tasks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34007" y="3776151"/>
            <a:ext cx="2092325" cy="679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4000" b="1" spc="-244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Outputs</a:t>
            </a:r>
          </a:p>
        </p:txBody>
      </p:sp>
      <p:sp>
        <p:nvSpPr>
          <p:cNvPr id="17" name="Freeform 17"/>
          <p:cNvSpPr/>
          <p:nvPr/>
        </p:nvSpPr>
        <p:spPr>
          <a:xfrm flipH="1">
            <a:off x="-643541" y="1168205"/>
            <a:ext cx="2175010" cy="2186939"/>
          </a:xfrm>
          <a:custGeom>
            <a:avLst/>
            <a:gdLst/>
            <a:ahLst/>
            <a:cxnLst/>
            <a:rect l="l" t="t" r="r" b="b"/>
            <a:pathLst>
              <a:path w="2175010" h="2186939">
                <a:moveTo>
                  <a:pt x="2175011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1" y="2186939"/>
                </a:lnTo>
                <a:lnTo>
                  <a:pt x="217501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61859" y="1787012"/>
            <a:ext cx="3357741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000"/>
              </a:lnSpc>
              <a:spcBef>
                <a:spcPct val="0"/>
              </a:spcBef>
            </a:pPr>
            <a:r>
              <a:rPr lang="en-US" sz="5000" b="1" spc="-3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Curriculum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16173" y="1266671"/>
            <a:ext cx="10792046" cy="167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00"/>
              </a:lnSpc>
            </a:pPr>
            <a:r>
              <a:rPr lang="en-US" sz="6000" spc="-36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 Self-awareness</a:t>
            </a:r>
          </a:p>
          <a:p>
            <a:pPr marL="0" lvl="0" indent="0" algn="r">
              <a:lnSpc>
                <a:spcPts val="4900"/>
              </a:lnSpc>
              <a:spcBef>
                <a:spcPct val="0"/>
              </a:spcBef>
            </a:pPr>
            <a:r>
              <a:rPr lang="en-US" sz="3500" spc="-21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 </a:t>
            </a:r>
            <a:r>
              <a:rPr lang="en-US" sz="3500" i="1" spc="-21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Entry ticket</a:t>
            </a:r>
            <a:r>
              <a:rPr lang="ru-RU" sz="3500" i="1" spc="-21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00" i="1" spc="-21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lang="ru-RU" sz="3500" i="1" spc="-21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00" i="1" spc="-21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Fuel for your Career</a:t>
            </a:r>
          </a:p>
        </p:txBody>
      </p:sp>
      <p:sp>
        <p:nvSpPr>
          <p:cNvPr id="20" name="TextBox 20"/>
          <p:cNvSpPr txBox="1"/>
          <p:nvPr/>
        </p:nvSpPr>
        <p:spPr>
          <a:xfrm rot="-5400000">
            <a:off x="-2120377" y="6082928"/>
            <a:ext cx="5515775" cy="112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6"/>
              </a:lnSpc>
              <a:spcBef>
                <a:spcPct val="0"/>
              </a:spcBef>
            </a:pPr>
            <a:r>
              <a:rPr lang="en-US" sz="6590" b="1" spc="1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CareerDrive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86806" y="3785675"/>
            <a:ext cx="2142594" cy="669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243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In details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9275" y="380627"/>
            <a:ext cx="906125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94016" y="380805"/>
            <a:ext cx="195589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Professional Fit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4178513" y="174451"/>
            <a:ext cx="2441834" cy="790533"/>
            <a:chOff x="0" y="0"/>
            <a:chExt cx="643117" cy="20820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43117" cy="208206"/>
            </a:xfrm>
            <a:custGeom>
              <a:avLst/>
              <a:gdLst/>
              <a:ahLst/>
              <a:cxnLst/>
              <a:rect l="l" t="t" r="r" b="b"/>
              <a:pathLst>
                <a:path w="643117" h="208206">
                  <a:moveTo>
                    <a:pt x="104103" y="0"/>
                  </a:moveTo>
                  <a:lnTo>
                    <a:pt x="539014" y="0"/>
                  </a:lnTo>
                  <a:cubicBezTo>
                    <a:pt x="566623" y="0"/>
                    <a:pt x="593102" y="10968"/>
                    <a:pt x="612626" y="30491"/>
                  </a:cubicBezTo>
                  <a:cubicBezTo>
                    <a:pt x="632149" y="50014"/>
                    <a:pt x="643117" y="76493"/>
                    <a:pt x="643117" y="104103"/>
                  </a:cubicBezTo>
                  <a:lnTo>
                    <a:pt x="643117" y="104103"/>
                  </a:lnTo>
                  <a:cubicBezTo>
                    <a:pt x="643117" y="161598"/>
                    <a:pt x="596508" y="208206"/>
                    <a:pt x="539014" y="208206"/>
                  </a:cubicBezTo>
                  <a:lnTo>
                    <a:pt x="104103" y="208206"/>
                  </a:lnTo>
                  <a:cubicBezTo>
                    <a:pt x="46609" y="208206"/>
                    <a:pt x="0" y="161598"/>
                    <a:pt x="0" y="104103"/>
                  </a:cubicBezTo>
                  <a:lnTo>
                    <a:pt x="0" y="104103"/>
                  </a:lnTo>
                  <a:cubicBezTo>
                    <a:pt x="0" y="46609"/>
                    <a:pt x="46609" y="0"/>
                    <a:pt x="104103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0"/>
              <a:ext cx="643117" cy="303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402514" y="380627"/>
            <a:ext cx="2101155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Self-awareness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056269" y="380627"/>
            <a:ext cx="230838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Self-Management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74253" y="380627"/>
            <a:ext cx="135118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Mentoring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935033" y="380805"/>
            <a:ext cx="1552367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Life Design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043154" y="380627"/>
            <a:ext cx="1577846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 skills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174849" y="380805"/>
            <a:ext cx="175117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Employability</a:t>
            </a:r>
          </a:p>
        </p:txBody>
      </p:sp>
      <p:sp>
        <p:nvSpPr>
          <p:cNvPr id="35" name="Freeform 33">
            <a:extLst>
              <a:ext uri="{FF2B5EF4-FFF2-40B4-BE49-F238E27FC236}">
                <a16:creationId xmlns:a16="http://schemas.microsoft.com/office/drawing/2014/main" id="{83A49DD9-C1EB-77A0-F43A-46B216451DB7}"/>
              </a:ext>
            </a:extLst>
          </p:cNvPr>
          <p:cNvSpPr/>
          <p:nvPr/>
        </p:nvSpPr>
        <p:spPr>
          <a:xfrm flipH="1">
            <a:off x="16002000" y="1181100"/>
            <a:ext cx="2175010" cy="2186939"/>
          </a:xfrm>
          <a:custGeom>
            <a:avLst/>
            <a:gdLst/>
            <a:ahLst/>
            <a:cxnLst/>
            <a:rect l="l" t="t" r="r" b="b"/>
            <a:pathLst>
              <a:path w="2175010" h="2186939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1618" y="4593935"/>
            <a:ext cx="7743917" cy="5117359"/>
            <a:chOff x="0" y="0"/>
            <a:chExt cx="2039550" cy="13477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9550" cy="1347782"/>
            </a:xfrm>
            <a:custGeom>
              <a:avLst/>
              <a:gdLst/>
              <a:ahLst/>
              <a:cxnLst/>
              <a:rect l="l" t="t" r="r" b="b"/>
              <a:pathLst>
                <a:path w="2039550" h="1347782">
                  <a:moveTo>
                    <a:pt x="50987" y="0"/>
                  </a:moveTo>
                  <a:lnTo>
                    <a:pt x="1988563" y="0"/>
                  </a:lnTo>
                  <a:cubicBezTo>
                    <a:pt x="2016722" y="0"/>
                    <a:pt x="2039550" y="22828"/>
                    <a:pt x="2039550" y="50987"/>
                  </a:cubicBezTo>
                  <a:lnTo>
                    <a:pt x="2039550" y="1296795"/>
                  </a:lnTo>
                  <a:cubicBezTo>
                    <a:pt x="2039550" y="1310317"/>
                    <a:pt x="2034178" y="1323286"/>
                    <a:pt x="2024616" y="1332848"/>
                  </a:cubicBezTo>
                  <a:cubicBezTo>
                    <a:pt x="2015055" y="1342410"/>
                    <a:pt x="2002086" y="1347782"/>
                    <a:pt x="1988563" y="1347782"/>
                  </a:cubicBezTo>
                  <a:lnTo>
                    <a:pt x="50987" y="1347782"/>
                  </a:lnTo>
                  <a:cubicBezTo>
                    <a:pt x="22828" y="1347782"/>
                    <a:pt x="0" y="1324954"/>
                    <a:pt x="0" y="1296795"/>
                  </a:cubicBezTo>
                  <a:lnTo>
                    <a:pt x="0" y="50987"/>
                  </a:lnTo>
                  <a:cubicBezTo>
                    <a:pt x="0" y="22828"/>
                    <a:pt x="22828" y="0"/>
                    <a:pt x="50987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039550" cy="1443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81618" y="3581784"/>
            <a:ext cx="7743917" cy="6129510"/>
            <a:chOff x="0" y="0"/>
            <a:chExt cx="2039550" cy="16143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9550" cy="1614357"/>
            </a:xfrm>
            <a:custGeom>
              <a:avLst/>
              <a:gdLst/>
              <a:ahLst/>
              <a:cxnLst/>
              <a:rect l="l" t="t" r="r" b="b"/>
              <a:pathLst>
                <a:path w="2039550" h="1614357">
                  <a:moveTo>
                    <a:pt x="50987" y="0"/>
                  </a:moveTo>
                  <a:lnTo>
                    <a:pt x="1988563" y="0"/>
                  </a:lnTo>
                  <a:cubicBezTo>
                    <a:pt x="2016722" y="0"/>
                    <a:pt x="2039550" y="22828"/>
                    <a:pt x="2039550" y="50987"/>
                  </a:cubicBezTo>
                  <a:lnTo>
                    <a:pt x="2039550" y="1563370"/>
                  </a:lnTo>
                  <a:cubicBezTo>
                    <a:pt x="2039550" y="1576892"/>
                    <a:pt x="2034178" y="1589861"/>
                    <a:pt x="2024616" y="1599423"/>
                  </a:cubicBezTo>
                  <a:cubicBezTo>
                    <a:pt x="2015055" y="1608985"/>
                    <a:pt x="2002086" y="1614357"/>
                    <a:pt x="1988563" y="1614357"/>
                  </a:cubicBezTo>
                  <a:lnTo>
                    <a:pt x="50987" y="1614357"/>
                  </a:lnTo>
                  <a:cubicBezTo>
                    <a:pt x="22828" y="1614357"/>
                    <a:pt x="0" y="1591529"/>
                    <a:pt x="0" y="1563370"/>
                  </a:cubicBezTo>
                  <a:lnTo>
                    <a:pt x="0" y="50987"/>
                  </a:lnTo>
                  <a:cubicBezTo>
                    <a:pt x="0" y="22828"/>
                    <a:pt x="22828" y="0"/>
                    <a:pt x="50987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2039550" cy="1709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101810" y="3581784"/>
            <a:ext cx="7756719" cy="6129510"/>
            <a:chOff x="0" y="0"/>
            <a:chExt cx="2042922" cy="16143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42922" cy="1614357"/>
            </a:xfrm>
            <a:custGeom>
              <a:avLst/>
              <a:gdLst/>
              <a:ahLst/>
              <a:cxnLst/>
              <a:rect l="l" t="t" r="r" b="b"/>
              <a:pathLst>
                <a:path w="2042922" h="1614357">
                  <a:moveTo>
                    <a:pt x="50903" y="0"/>
                  </a:moveTo>
                  <a:lnTo>
                    <a:pt x="1992019" y="0"/>
                  </a:lnTo>
                  <a:cubicBezTo>
                    <a:pt x="2005519" y="0"/>
                    <a:pt x="2018467" y="5363"/>
                    <a:pt x="2028013" y="14909"/>
                  </a:cubicBezTo>
                  <a:cubicBezTo>
                    <a:pt x="2037559" y="24455"/>
                    <a:pt x="2042922" y="37402"/>
                    <a:pt x="2042922" y="50903"/>
                  </a:cubicBezTo>
                  <a:lnTo>
                    <a:pt x="2042922" y="1563454"/>
                  </a:lnTo>
                  <a:cubicBezTo>
                    <a:pt x="2042922" y="1576954"/>
                    <a:pt x="2037559" y="1589901"/>
                    <a:pt x="2028013" y="1599447"/>
                  </a:cubicBezTo>
                  <a:cubicBezTo>
                    <a:pt x="2018467" y="1608994"/>
                    <a:pt x="2005519" y="1614357"/>
                    <a:pt x="1992019" y="1614357"/>
                  </a:cubicBezTo>
                  <a:lnTo>
                    <a:pt x="50903" y="1614357"/>
                  </a:lnTo>
                  <a:cubicBezTo>
                    <a:pt x="37402" y="1614357"/>
                    <a:pt x="24455" y="1608994"/>
                    <a:pt x="14909" y="1599447"/>
                  </a:cubicBezTo>
                  <a:cubicBezTo>
                    <a:pt x="5363" y="1589901"/>
                    <a:pt x="0" y="1576954"/>
                    <a:pt x="0" y="1563454"/>
                  </a:cubicBezTo>
                  <a:lnTo>
                    <a:pt x="0" y="50903"/>
                  </a:lnTo>
                  <a:cubicBezTo>
                    <a:pt x="0" y="37402"/>
                    <a:pt x="5363" y="24455"/>
                    <a:pt x="14909" y="14909"/>
                  </a:cubicBezTo>
                  <a:cubicBezTo>
                    <a:pt x="24455" y="5363"/>
                    <a:pt x="37402" y="0"/>
                    <a:pt x="50903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042922" cy="1709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01810" y="4593935"/>
            <a:ext cx="7756719" cy="5117359"/>
            <a:chOff x="0" y="0"/>
            <a:chExt cx="2042922" cy="134778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42922" cy="1347782"/>
            </a:xfrm>
            <a:custGeom>
              <a:avLst/>
              <a:gdLst/>
              <a:ahLst/>
              <a:cxnLst/>
              <a:rect l="l" t="t" r="r" b="b"/>
              <a:pathLst>
                <a:path w="2042922" h="1347782">
                  <a:moveTo>
                    <a:pt x="50903" y="0"/>
                  </a:moveTo>
                  <a:lnTo>
                    <a:pt x="1992019" y="0"/>
                  </a:lnTo>
                  <a:cubicBezTo>
                    <a:pt x="2005519" y="0"/>
                    <a:pt x="2018467" y="5363"/>
                    <a:pt x="2028013" y="14909"/>
                  </a:cubicBezTo>
                  <a:cubicBezTo>
                    <a:pt x="2037559" y="24455"/>
                    <a:pt x="2042922" y="37402"/>
                    <a:pt x="2042922" y="50903"/>
                  </a:cubicBezTo>
                  <a:lnTo>
                    <a:pt x="2042922" y="1296879"/>
                  </a:lnTo>
                  <a:cubicBezTo>
                    <a:pt x="2042922" y="1310379"/>
                    <a:pt x="2037559" y="1323326"/>
                    <a:pt x="2028013" y="1332873"/>
                  </a:cubicBezTo>
                  <a:cubicBezTo>
                    <a:pt x="2018467" y="1342419"/>
                    <a:pt x="2005519" y="1347782"/>
                    <a:pt x="1992019" y="1347782"/>
                  </a:cubicBezTo>
                  <a:lnTo>
                    <a:pt x="50903" y="1347782"/>
                  </a:lnTo>
                  <a:cubicBezTo>
                    <a:pt x="37402" y="1347782"/>
                    <a:pt x="24455" y="1342419"/>
                    <a:pt x="14909" y="1332873"/>
                  </a:cubicBezTo>
                  <a:cubicBezTo>
                    <a:pt x="5363" y="1323326"/>
                    <a:pt x="0" y="1310379"/>
                    <a:pt x="0" y="1296879"/>
                  </a:cubicBezTo>
                  <a:lnTo>
                    <a:pt x="0" y="50903"/>
                  </a:lnTo>
                  <a:cubicBezTo>
                    <a:pt x="0" y="37402"/>
                    <a:pt x="5363" y="24455"/>
                    <a:pt x="14909" y="14909"/>
                  </a:cubicBezTo>
                  <a:cubicBezTo>
                    <a:pt x="24455" y="5363"/>
                    <a:pt x="37402" y="0"/>
                    <a:pt x="50903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2042922" cy="1443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85142" y="5193206"/>
            <a:ext cx="5990115" cy="2769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Building Career with Purpose and Satisfaction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Motivation and Core values are hidden engine for our careers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Inner Compass to make Career Choices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44865" y="5057775"/>
            <a:ext cx="7070609" cy="2769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Motivation and Values Inventory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Full scope of Professional DNA definition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Learn to build career resilience from within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Career’s true safety starts with internal resources not with unreliable external factors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34007" y="3769745"/>
            <a:ext cx="2092325" cy="679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4000" b="1" spc="-244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Outputs</a:t>
            </a:r>
          </a:p>
        </p:txBody>
      </p:sp>
      <p:sp>
        <p:nvSpPr>
          <p:cNvPr id="17" name="TextBox 17"/>
          <p:cNvSpPr txBox="1"/>
          <p:nvPr/>
        </p:nvSpPr>
        <p:spPr>
          <a:xfrm rot="-5400000">
            <a:off x="-2120377" y="6082928"/>
            <a:ext cx="5515775" cy="112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6"/>
              </a:lnSpc>
              <a:spcBef>
                <a:spcPct val="0"/>
              </a:spcBef>
            </a:pPr>
            <a:r>
              <a:rPr lang="en-US" sz="6590" b="1" spc="1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CareerDrive</a:t>
            </a:r>
          </a:p>
        </p:txBody>
      </p:sp>
      <p:sp>
        <p:nvSpPr>
          <p:cNvPr id="18" name="Freeform 18"/>
          <p:cNvSpPr/>
          <p:nvPr/>
        </p:nvSpPr>
        <p:spPr>
          <a:xfrm flipH="1">
            <a:off x="-643541" y="1168205"/>
            <a:ext cx="2175010" cy="2186939"/>
          </a:xfrm>
          <a:custGeom>
            <a:avLst/>
            <a:gdLst/>
            <a:ahLst/>
            <a:cxnLst/>
            <a:rect l="l" t="t" r="r" b="b"/>
            <a:pathLst>
              <a:path w="2175010" h="2186939">
                <a:moveTo>
                  <a:pt x="2175011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1" y="2186939"/>
                </a:lnTo>
                <a:lnTo>
                  <a:pt x="217501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761859" y="1787012"/>
            <a:ext cx="3357741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000"/>
              </a:lnSpc>
              <a:spcBef>
                <a:spcPct val="0"/>
              </a:spcBef>
            </a:pPr>
            <a:r>
              <a:rPr lang="en-US" sz="5000" b="1" spc="-3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Curriculum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40730" y="1396749"/>
            <a:ext cx="13060252" cy="1518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280"/>
              </a:lnSpc>
            </a:pPr>
            <a:r>
              <a:rPr lang="en-US" sz="5200" spc="-31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 Self-Management Framework</a:t>
            </a:r>
          </a:p>
          <a:p>
            <a:pPr marL="0" lvl="0" indent="0" algn="r">
              <a:lnSpc>
                <a:spcPts val="4900"/>
              </a:lnSpc>
              <a:spcBef>
                <a:spcPct val="0"/>
              </a:spcBef>
            </a:pPr>
            <a:r>
              <a:rPr lang="en-US" sz="3500" i="1" spc="-21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 Decision Filters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86806" y="3762759"/>
            <a:ext cx="2218794" cy="669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243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In details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9275" y="380627"/>
            <a:ext cx="906125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94016" y="380805"/>
            <a:ext cx="195589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Professional Fit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59516" y="380627"/>
            <a:ext cx="198715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Self-awareness 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857905" y="174273"/>
            <a:ext cx="2726547" cy="790533"/>
            <a:chOff x="0" y="0"/>
            <a:chExt cx="718103" cy="20820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8103" cy="208206"/>
            </a:xfrm>
            <a:custGeom>
              <a:avLst/>
              <a:gdLst/>
              <a:ahLst/>
              <a:cxnLst/>
              <a:rect l="l" t="t" r="r" b="b"/>
              <a:pathLst>
                <a:path w="718103" h="208206">
                  <a:moveTo>
                    <a:pt x="104103" y="0"/>
                  </a:moveTo>
                  <a:lnTo>
                    <a:pt x="614000" y="0"/>
                  </a:lnTo>
                  <a:cubicBezTo>
                    <a:pt x="671494" y="0"/>
                    <a:pt x="718103" y="46609"/>
                    <a:pt x="718103" y="104103"/>
                  </a:cubicBezTo>
                  <a:lnTo>
                    <a:pt x="718103" y="104103"/>
                  </a:lnTo>
                  <a:cubicBezTo>
                    <a:pt x="718103" y="131713"/>
                    <a:pt x="707135" y="158192"/>
                    <a:pt x="687612" y="177715"/>
                  </a:cubicBezTo>
                  <a:cubicBezTo>
                    <a:pt x="668089" y="197238"/>
                    <a:pt x="641610" y="208206"/>
                    <a:pt x="614000" y="208206"/>
                  </a:cubicBezTo>
                  <a:lnTo>
                    <a:pt x="104103" y="208206"/>
                  </a:lnTo>
                  <a:cubicBezTo>
                    <a:pt x="46609" y="208206"/>
                    <a:pt x="0" y="161598"/>
                    <a:pt x="0" y="104103"/>
                  </a:cubicBezTo>
                  <a:lnTo>
                    <a:pt x="0" y="104103"/>
                  </a:lnTo>
                  <a:cubicBezTo>
                    <a:pt x="0" y="46609"/>
                    <a:pt x="46609" y="0"/>
                    <a:pt x="104103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0"/>
              <a:ext cx="718103" cy="303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018050" y="380627"/>
            <a:ext cx="2430750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4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Self-Management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74253" y="380627"/>
            <a:ext cx="135118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Mentoring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935033" y="380805"/>
            <a:ext cx="1552367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Life Design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043154" y="380627"/>
            <a:ext cx="1577846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 skills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174849" y="380805"/>
            <a:ext cx="175117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Employability</a:t>
            </a:r>
          </a:p>
        </p:txBody>
      </p:sp>
      <p:sp>
        <p:nvSpPr>
          <p:cNvPr id="22" name="Freeform 33">
            <a:extLst>
              <a:ext uri="{FF2B5EF4-FFF2-40B4-BE49-F238E27FC236}">
                <a16:creationId xmlns:a16="http://schemas.microsoft.com/office/drawing/2014/main" id="{11A0E97F-8FF8-806E-4923-C2A92CD5CA54}"/>
              </a:ext>
            </a:extLst>
          </p:cNvPr>
          <p:cNvSpPr/>
          <p:nvPr/>
        </p:nvSpPr>
        <p:spPr>
          <a:xfrm flipH="1">
            <a:off x="16002000" y="1181100"/>
            <a:ext cx="2175010" cy="2186939"/>
          </a:xfrm>
          <a:custGeom>
            <a:avLst/>
            <a:gdLst/>
            <a:ahLst/>
            <a:cxnLst/>
            <a:rect l="l" t="t" r="r" b="b"/>
            <a:pathLst>
              <a:path w="2175010" h="2186939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1618" y="3581784"/>
            <a:ext cx="7743917" cy="6129510"/>
            <a:chOff x="0" y="0"/>
            <a:chExt cx="2039550" cy="16143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9550" cy="1614357"/>
            </a:xfrm>
            <a:custGeom>
              <a:avLst/>
              <a:gdLst/>
              <a:ahLst/>
              <a:cxnLst/>
              <a:rect l="l" t="t" r="r" b="b"/>
              <a:pathLst>
                <a:path w="2039550" h="1614357">
                  <a:moveTo>
                    <a:pt x="50987" y="0"/>
                  </a:moveTo>
                  <a:lnTo>
                    <a:pt x="1988563" y="0"/>
                  </a:lnTo>
                  <a:cubicBezTo>
                    <a:pt x="2016722" y="0"/>
                    <a:pt x="2039550" y="22828"/>
                    <a:pt x="2039550" y="50987"/>
                  </a:cubicBezTo>
                  <a:lnTo>
                    <a:pt x="2039550" y="1563370"/>
                  </a:lnTo>
                  <a:cubicBezTo>
                    <a:pt x="2039550" y="1576892"/>
                    <a:pt x="2034178" y="1589861"/>
                    <a:pt x="2024616" y="1599423"/>
                  </a:cubicBezTo>
                  <a:cubicBezTo>
                    <a:pt x="2015055" y="1608985"/>
                    <a:pt x="2002086" y="1614357"/>
                    <a:pt x="1988563" y="1614357"/>
                  </a:cubicBezTo>
                  <a:lnTo>
                    <a:pt x="50987" y="1614357"/>
                  </a:lnTo>
                  <a:cubicBezTo>
                    <a:pt x="22828" y="1614357"/>
                    <a:pt x="0" y="1591529"/>
                    <a:pt x="0" y="1563370"/>
                  </a:cubicBezTo>
                  <a:lnTo>
                    <a:pt x="0" y="50987"/>
                  </a:lnTo>
                  <a:cubicBezTo>
                    <a:pt x="0" y="22828"/>
                    <a:pt x="22828" y="0"/>
                    <a:pt x="50987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039550" cy="1709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81618" y="4593935"/>
            <a:ext cx="7743917" cy="5117359"/>
            <a:chOff x="0" y="0"/>
            <a:chExt cx="2039550" cy="13477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9550" cy="1347782"/>
            </a:xfrm>
            <a:custGeom>
              <a:avLst/>
              <a:gdLst/>
              <a:ahLst/>
              <a:cxnLst/>
              <a:rect l="l" t="t" r="r" b="b"/>
              <a:pathLst>
                <a:path w="2039550" h="1347782">
                  <a:moveTo>
                    <a:pt x="50987" y="0"/>
                  </a:moveTo>
                  <a:lnTo>
                    <a:pt x="1988563" y="0"/>
                  </a:lnTo>
                  <a:cubicBezTo>
                    <a:pt x="2016722" y="0"/>
                    <a:pt x="2039550" y="22828"/>
                    <a:pt x="2039550" y="50987"/>
                  </a:cubicBezTo>
                  <a:lnTo>
                    <a:pt x="2039550" y="1296795"/>
                  </a:lnTo>
                  <a:cubicBezTo>
                    <a:pt x="2039550" y="1310317"/>
                    <a:pt x="2034178" y="1323286"/>
                    <a:pt x="2024616" y="1332848"/>
                  </a:cubicBezTo>
                  <a:cubicBezTo>
                    <a:pt x="2015055" y="1342410"/>
                    <a:pt x="2002086" y="1347782"/>
                    <a:pt x="1988563" y="1347782"/>
                  </a:cubicBezTo>
                  <a:lnTo>
                    <a:pt x="50987" y="1347782"/>
                  </a:lnTo>
                  <a:cubicBezTo>
                    <a:pt x="22828" y="1347782"/>
                    <a:pt x="0" y="1324954"/>
                    <a:pt x="0" y="1296795"/>
                  </a:cubicBezTo>
                  <a:lnTo>
                    <a:pt x="0" y="50987"/>
                  </a:lnTo>
                  <a:cubicBezTo>
                    <a:pt x="0" y="22828"/>
                    <a:pt x="22828" y="0"/>
                    <a:pt x="50987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2039550" cy="1443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499279" y="5873167"/>
            <a:ext cx="6108596" cy="32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Who did you admire when you were growing up?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kind of media do you read or watch regularly?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is your favorite book or movie?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Tell me your favorite saying or motto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are your Earliest Recollections?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101810" y="4593935"/>
            <a:ext cx="7756719" cy="5117359"/>
            <a:chOff x="0" y="0"/>
            <a:chExt cx="2042922" cy="13477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42922" cy="1347782"/>
            </a:xfrm>
            <a:custGeom>
              <a:avLst/>
              <a:gdLst/>
              <a:ahLst/>
              <a:cxnLst/>
              <a:rect l="l" t="t" r="r" b="b"/>
              <a:pathLst>
                <a:path w="2042922" h="1347782">
                  <a:moveTo>
                    <a:pt x="50903" y="0"/>
                  </a:moveTo>
                  <a:lnTo>
                    <a:pt x="1992019" y="0"/>
                  </a:lnTo>
                  <a:cubicBezTo>
                    <a:pt x="2005519" y="0"/>
                    <a:pt x="2018467" y="5363"/>
                    <a:pt x="2028013" y="14909"/>
                  </a:cubicBezTo>
                  <a:cubicBezTo>
                    <a:pt x="2037559" y="24455"/>
                    <a:pt x="2042922" y="37402"/>
                    <a:pt x="2042922" y="50903"/>
                  </a:cubicBezTo>
                  <a:lnTo>
                    <a:pt x="2042922" y="1296879"/>
                  </a:lnTo>
                  <a:cubicBezTo>
                    <a:pt x="2042922" y="1310379"/>
                    <a:pt x="2037559" y="1323326"/>
                    <a:pt x="2028013" y="1332873"/>
                  </a:cubicBezTo>
                  <a:cubicBezTo>
                    <a:pt x="2018467" y="1342419"/>
                    <a:pt x="2005519" y="1347782"/>
                    <a:pt x="1992019" y="1347782"/>
                  </a:cubicBezTo>
                  <a:lnTo>
                    <a:pt x="50903" y="1347782"/>
                  </a:lnTo>
                  <a:cubicBezTo>
                    <a:pt x="37402" y="1347782"/>
                    <a:pt x="24455" y="1342419"/>
                    <a:pt x="14909" y="1332873"/>
                  </a:cubicBezTo>
                  <a:cubicBezTo>
                    <a:pt x="5363" y="1323326"/>
                    <a:pt x="0" y="1310379"/>
                    <a:pt x="0" y="1296879"/>
                  </a:cubicBezTo>
                  <a:lnTo>
                    <a:pt x="0" y="50903"/>
                  </a:lnTo>
                  <a:cubicBezTo>
                    <a:pt x="0" y="37402"/>
                    <a:pt x="5363" y="24455"/>
                    <a:pt x="14909" y="14909"/>
                  </a:cubicBezTo>
                  <a:cubicBezTo>
                    <a:pt x="24455" y="5363"/>
                    <a:pt x="37402" y="0"/>
                    <a:pt x="50903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2042922" cy="1443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101810" y="3581784"/>
            <a:ext cx="7756719" cy="6129510"/>
            <a:chOff x="0" y="0"/>
            <a:chExt cx="2042922" cy="16143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42922" cy="1614357"/>
            </a:xfrm>
            <a:custGeom>
              <a:avLst/>
              <a:gdLst/>
              <a:ahLst/>
              <a:cxnLst/>
              <a:rect l="l" t="t" r="r" b="b"/>
              <a:pathLst>
                <a:path w="2042922" h="1614357">
                  <a:moveTo>
                    <a:pt x="50903" y="0"/>
                  </a:moveTo>
                  <a:lnTo>
                    <a:pt x="1992019" y="0"/>
                  </a:lnTo>
                  <a:cubicBezTo>
                    <a:pt x="2005519" y="0"/>
                    <a:pt x="2018467" y="5363"/>
                    <a:pt x="2028013" y="14909"/>
                  </a:cubicBezTo>
                  <a:cubicBezTo>
                    <a:pt x="2037559" y="24455"/>
                    <a:pt x="2042922" y="37402"/>
                    <a:pt x="2042922" y="50903"/>
                  </a:cubicBezTo>
                  <a:lnTo>
                    <a:pt x="2042922" y="1563454"/>
                  </a:lnTo>
                  <a:cubicBezTo>
                    <a:pt x="2042922" y="1576954"/>
                    <a:pt x="2037559" y="1589901"/>
                    <a:pt x="2028013" y="1599447"/>
                  </a:cubicBezTo>
                  <a:cubicBezTo>
                    <a:pt x="2018467" y="1608994"/>
                    <a:pt x="2005519" y="1614357"/>
                    <a:pt x="1992019" y="1614357"/>
                  </a:cubicBezTo>
                  <a:lnTo>
                    <a:pt x="50903" y="1614357"/>
                  </a:lnTo>
                  <a:cubicBezTo>
                    <a:pt x="37402" y="1614357"/>
                    <a:pt x="24455" y="1608994"/>
                    <a:pt x="14909" y="1599447"/>
                  </a:cubicBezTo>
                  <a:cubicBezTo>
                    <a:pt x="5363" y="1589901"/>
                    <a:pt x="0" y="1576954"/>
                    <a:pt x="0" y="1563454"/>
                  </a:cubicBezTo>
                  <a:lnTo>
                    <a:pt x="0" y="50903"/>
                  </a:lnTo>
                  <a:cubicBezTo>
                    <a:pt x="0" y="37402"/>
                    <a:pt x="5363" y="24455"/>
                    <a:pt x="14909" y="14909"/>
                  </a:cubicBezTo>
                  <a:cubicBezTo>
                    <a:pt x="24455" y="5363"/>
                    <a:pt x="37402" y="0"/>
                    <a:pt x="50903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2042922" cy="1709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141067" y="6584924"/>
            <a:ext cx="6118233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spc="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Creation Coherent Career Story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94152" y="3698151"/>
            <a:ext cx="2017247" cy="679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600"/>
              </a:lnSpc>
              <a:spcBef>
                <a:spcPct val="0"/>
              </a:spcBef>
            </a:pPr>
            <a:r>
              <a:rPr lang="en-US" sz="4000" b="1" spc="-244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Outputs</a:t>
            </a:r>
          </a:p>
        </p:txBody>
      </p:sp>
      <p:sp>
        <p:nvSpPr>
          <p:cNvPr id="17" name="TextBox 17"/>
          <p:cNvSpPr txBox="1"/>
          <p:nvPr/>
        </p:nvSpPr>
        <p:spPr>
          <a:xfrm rot="-5400000">
            <a:off x="-2120377" y="6082928"/>
            <a:ext cx="5515775" cy="112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6"/>
              </a:lnSpc>
              <a:spcBef>
                <a:spcPct val="0"/>
              </a:spcBef>
            </a:pPr>
            <a:r>
              <a:rPr lang="en-US" sz="6590" b="1" spc="1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CareerDrive</a:t>
            </a:r>
          </a:p>
        </p:txBody>
      </p:sp>
      <p:sp>
        <p:nvSpPr>
          <p:cNvPr id="18" name="Freeform 18"/>
          <p:cNvSpPr/>
          <p:nvPr/>
        </p:nvSpPr>
        <p:spPr>
          <a:xfrm flipH="1">
            <a:off x="-643541" y="1168205"/>
            <a:ext cx="2175010" cy="2186939"/>
          </a:xfrm>
          <a:custGeom>
            <a:avLst/>
            <a:gdLst/>
            <a:ahLst/>
            <a:cxnLst/>
            <a:rect l="l" t="t" r="r" b="b"/>
            <a:pathLst>
              <a:path w="2175010" h="2186939">
                <a:moveTo>
                  <a:pt x="2175011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1" y="2186939"/>
                </a:lnTo>
                <a:lnTo>
                  <a:pt x="217501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761859" y="1787012"/>
            <a:ext cx="3357741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000"/>
              </a:lnSpc>
              <a:spcBef>
                <a:spcPct val="0"/>
              </a:spcBef>
            </a:pPr>
            <a:r>
              <a:rPr lang="en-US" sz="5000" b="1" spc="-3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Curriculum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96139" y="1430028"/>
            <a:ext cx="10792046" cy="167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00"/>
              </a:lnSpc>
            </a:pPr>
            <a:r>
              <a:rPr lang="en-US" sz="6000" spc="-36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Individual Mentoring Session</a:t>
            </a:r>
          </a:p>
          <a:p>
            <a:pPr marL="0" lvl="0" indent="0" algn="r">
              <a:lnSpc>
                <a:spcPts val="4900"/>
              </a:lnSpc>
              <a:spcBef>
                <a:spcPct val="0"/>
              </a:spcBef>
            </a:pPr>
            <a:r>
              <a:rPr lang="en-US" sz="3500" i="1" spc="-21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 Narrative Construction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86806" y="3707675"/>
            <a:ext cx="2142594" cy="669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243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In details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99279" y="5139600"/>
            <a:ext cx="6108596" cy="474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3"/>
              </a:lnSpc>
            </a:pPr>
            <a:r>
              <a:rPr lang="en-US" sz="2899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 Construction Interview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89275" y="380627"/>
            <a:ext cx="906125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94016" y="380805"/>
            <a:ext cx="195589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Professional Fit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59516" y="380627"/>
            <a:ext cx="198715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Self-awareness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56269" y="380627"/>
            <a:ext cx="230838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Self-Management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770824" y="174273"/>
            <a:ext cx="1760213" cy="790533"/>
            <a:chOff x="0" y="0"/>
            <a:chExt cx="463595" cy="20820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63595" cy="208206"/>
            </a:xfrm>
            <a:custGeom>
              <a:avLst/>
              <a:gdLst/>
              <a:ahLst/>
              <a:cxnLst/>
              <a:rect l="l" t="t" r="r" b="b"/>
              <a:pathLst>
                <a:path w="463595" h="208206">
                  <a:moveTo>
                    <a:pt x="104103" y="0"/>
                  </a:moveTo>
                  <a:lnTo>
                    <a:pt x="359492" y="0"/>
                  </a:lnTo>
                  <a:cubicBezTo>
                    <a:pt x="416987" y="0"/>
                    <a:pt x="463595" y="46609"/>
                    <a:pt x="463595" y="104103"/>
                  </a:cubicBezTo>
                  <a:lnTo>
                    <a:pt x="463595" y="104103"/>
                  </a:lnTo>
                  <a:cubicBezTo>
                    <a:pt x="463595" y="131713"/>
                    <a:pt x="452627" y="158192"/>
                    <a:pt x="433104" y="177715"/>
                  </a:cubicBezTo>
                  <a:cubicBezTo>
                    <a:pt x="413581" y="197238"/>
                    <a:pt x="387102" y="208206"/>
                    <a:pt x="359492" y="208206"/>
                  </a:cubicBezTo>
                  <a:lnTo>
                    <a:pt x="104103" y="208206"/>
                  </a:lnTo>
                  <a:cubicBezTo>
                    <a:pt x="46609" y="208206"/>
                    <a:pt x="0" y="161598"/>
                    <a:pt x="0" y="104103"/>
                  </a:cubicBezTo>
                  <a:lnTo>
                    <a:pt x="0" y="104103"/>
                  </a:lnTo>
                  <a:cubicBezTo>
                    <a:pt x="0" y="46609"/>
                    <a:pt x="46609" y="0"/>
                    <a:pt x="104103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0"/>
              <a:ext cx="463595" cy="303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950381" y="380627"/>
            <a:ext cx="1403419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4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Mentoring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935033" y="380805"/>
            <a:ext cx="1552367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Life Design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043154" y="380627"/>
            <a:ext cx="1577846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 skills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174849" y="380805"/>
            <a:ext cx="175117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Employability</a:t>
            </a:r>
          </a:p>
        </p:txBody>
      </p:sp>
      <p:sp>
        <p:nvSpPr>
          <p:cNvPr id="23" name="Freeform 33">
            <a:extLst>
              <a:ext uri="{FF2B5EF4-FFF2-40B4-BE49-F238E27FC236}">
                <a16:creationId xmlns:a16="http://schemas.microsoft.com/office/drawing/2014/main" id="{45A941BC-E60B-A7C4-D2F1-BFE6DF78D8FA}"/>
              </a:ext>
            </a:extLst>
          </p:cNvPr>
          <p:cNvSpPr/>
          <p:nvPr/>
        </p:nvSpPr>
        <p:spPr>
          <a:xfrm flipH="1">
            <a:off x="16002000" y="1181100"/>
            <a:ext cx="2175010" cy="2186939"/>
          </a:xfrm>
          <a:custGeom>
            <a:avLst/>
            <a:gdLst/>
            <a:ahLst/>
            <a:cxnLst/>
            <a:rect l="l" t="t" r="r" b="b"/>
            <a:pathLst>
              <a:path w="2175010" h="2186939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1618" y="4593935"/>
            <a:ext cx="7743917" cy="5117359"/>
            <a:chOff x="0" y="0"/>
            <a:chExt cx="2039550" cy="13477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9550" cy="1347782"/>
            </a:xfrm>
            <a:custGeom>
              <a:avLst/>
              <a:gdLst/>
              <a:ahLst/>
              <a:cxnLst/>
              <a:rect l="l" t="t" r="r" b="b"/>
              <a:pathLst>
                <a:path w="2039550" h="1347782">
                  <a:moveTo>
                    <a:pt x="50987" y="0"/>
                  </a:moveTo>
                  <a:lnTo>
                    <a:pt x="1988563" y="0"/>
                  </a:lnTo>
                  <a:cubicBezTo>
                    <a:pt x="2016722" y="0"/>
                    <a:pt x="2039550" y="22828"/>
                    <a:pt x="2039550" y="50987"/>
                  </a:cubicBezTo>
                  <a:lnTo>
                    <a:pt x="2039550" y="1296795"/>
                  </a:lnTo>
                  <a:cubicBezTo>
                    <a:pt x="2039550" y="1310317"/>
                    <a:pt x="2034178" y="1323286"/>
                    <a:pt x="2024616" y="1332848"/>
                  </a:cubicBezTo>
                  <a:cubicBezTo>
                    <a:pt x="2015055" y="1342410"/>
                    <a:pt x="2002086" y="1347782"/>
                    <a:pt x="1988563" y="1347782"/>
                  </a:cubicBezTo>
                  <a:lnTo>
                    <a:pt x="50987" y="1347782"/>
                  </a:lnTo>
                  <a:cubicBezTo>
                    <a:pt x="22828" y="1347782"/>
                    <a:pt x="0" y="1324954"/>
                    <a:pt x="0" y="1296795"/>
                  </a:cubicBezTo>
                  <a:lnTo>
                    <a:pt x="0" y="50987"/>
                  </a:lnTo>
                  <a:cubicBezTo>
                    <a:pt x="0" y="22828"/>
                    <a:pt x="22828" y="0"/>
                    <a:pt x="50987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039550" cy="1443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101810" y="3581784"/>
            <a:ext cx="7756719" cy="6129510"/>
            <a:chOff x="0" y="0"/>
            <a:chExt cx="2042922" cy="16143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42922" cy="1614357"/>
            </a:xfrm>
            <a:custGeom>
              <a:avLst/>
              <a:gdLst/>
              <a:ahLst/>
              <a:cxnLst/>
              <a:rect l="l" t="t" r="r" b="b"/>
              <a:pathLst>
                <a:path w="2042922" h="1614357">
                  <a:moveTo>
                    <a:pt x="50903" y="0"/>
                  </a:moveTo>
                  <a:lnTo>
                    <a:pt x="1992019" y="0"/>
                  </a:lnTo>
                  <a:cubicBezTo>
                    <a:pt x="2005519" y="0"/>
                    <a:pt x="2018467" y="5363"/>
                    <a:pt x="2028013" y="14909"/>
                  </a:cubicBezTo>
                  <a:cubicBezTo>
                    <a:pt x="2037559" y="24455"/>
                    <a:pt x="2042922" y="37402"/>
                    <a:pt x="2042922" y="50903"/>
                  </a:cubicBezTo>
                  <a:lnTo>
                    <a:pt x="2042922" y="1563454"/>
                  </a:lnTo>
                  <a:cubicBezTo>
                    <a:pt x="2042922" y="1576954"/>
                    <a:pt x="2037559" y="1589901"/>
                    <a:pt x="2028013" y="1599447"/>
                  </a:cubicBezTo>
                  <a:cubicBezTo>
                    <a:pt x="2018467" y="1608994"/>
                    <a:pt x="2005519" y="1614357"/>
                    <a:pt x="1992019" y="1614357"/>
                  </a:cubicBezTo>
                  <a:lnTo>
                    <a:pt x="50903" y="1614357"/>
                  </a:lnTo>
                  <a:cubicBezTo>
                    <a:pt x="37402" y="1614357"/>
                    <a:pt x="24455" y="1608994"/>
                    <a:pt x="14909" y="1599447"/>
                  </a:cubicBezTo>
                  <a:cubicBezTo>
                    <a:pt x="5363" y="1589901"/>
                    <a:pt x="0" y="1576954"/>
                    <a:pt x="0" y="1563454"/>
                  </a:cubicBezTo>
                  <a:lnTo>
                    <a:pt x="0" y="50903"/>
                  </a:lnTo>
                  <a:cubicBezTo>
                    <a:pt x="0" y="37402"/>
                    <a:pt x="5363" y="24455"/>
                    <a:pt x="14909" y="14909"/>
                  </a:cubicBezTo>
                  <a:cubicBezTo>
                    <a:pt x="24455" y="5363"/>
                    <a:pt x="37402" y="0"/>
                    <a:pt x="50903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2042922" cy="1709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101810" y="4575474"/>
            <a:ext cx="7756719" cy="5135819"/>
            <a:chOff x="0" y="0"/>
            <a:chExt cx="2042922" cy="13526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42922" cy="1352644"/>
            </a:xfrm>
            <a:custGeom>
              <a:avLst/>
              <a:gdLst/>
              <a:ahLst/>
              <a:cxnLst/>
              <a:rect l="l" t="t" r="r" b="b"/>
              <a:pathLst>
                <a:path w="2042922" h="1352644">
                  <a:moveTo>
                    <a:pt x="50903" y="0"/>
                  </a:moveTo>
                  <a:lnTo>
                    <a:pt x="1992019" y="0"/>
                  </a:lnTo>
                  <a:cubicBezTo>
                    <a:pt x="2005519" y="0"/>
                    <a:pt x="2018467" y="5363"/>
                    <a:pt x="2028013" y="14909"/>
                  </a:cubicBezTo>
                  <a:cubicBezTo>
                    <a:pt x="2037559" y="24455"/>
                    <a:pt x="2042922" y="37402"/>
                    <a:pt x="2042922" y="50903"/>
                  </a:cubicBezTo>
                  <a:lnTo>
                    <a:pt x="2042922" y="1301741"/>
                  </a:lnTo>
                  <a:cubicBezTo>
                    <a:pt x="2042922" y="1315241"/>
                    <a:pt x="2037559" y="1328189"/>
                    <a:pt x="2028013" y="1337735"/>
                  </a:cubicBezTo>
                  <a:cubicBezTo>
                    <a:pt x="2018467" y="1347281"/>
                    <a:pt x="2005519" y="1352644"/>
                    <a:pt x="1992019" y="1352644"/>
                  </a:cubicBezTo>
                  <a:lnTo>
                    <a:pt x="50903" y="1352644"/>
                  </a:lnTo>
                  <a:cubicBezTo>
                    <a:pt x="37402" y="1352644"/>
                    <a:pt x="24455" y="1347281"/>
                    <a:pt x="14909" y="1337735"/>
                  </a:cubicBezTo>
                  <a:cubicBezTo>
                    <a:pt x="5363" y="1328189"/>
                    <a:pt x="0" y="1315241"/>
                    <a:pt x="0" y="1301741"/>
                  </a:cubicBezTo>
                  <a:lnTo>
                    <a:pt x="0" y="50903"/>
                  </a:lnTo>
                  <a:cubicBezTo>
                    <a:pt x="0" y="37402"/>
                    <a:pt x="5363" y="24455"/>
                    <a:pt x="14909" y="14909"/>
                  </a:cubicBezTo>
                  <a:cubicBezTo>
                    <a:pt x="24455" y="5363"/>
                    <a:pt x="37402" y="0"/>
                    <a:pt x="50903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042922" cy="1447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81618" y="3581784"/>
            <a:ext cx="7743917" cy="6129510"/>
            <a:chOff x="0" y="0"/>
            <a:chExt cx="2039550" cy="16143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39550" cy="1614357"/>
            </a:xfrm>
            <a:custGeom>
              <a:avLst/>
              <a:gdLst/>
              <a:ahLst/>
              <a:cxnLst/>
              <a:rect l="l" t="t" r="r" b="b"/>
              <a:pathLst>
                <a:path w="2039550" h="1614357">
                  <a:moveTo>
                    <a:pt x="50987" y="0"/>
                  </a:moveTo>
                  <a:lnTo>
                    <a:pt x="1988563" y="0"/>
                  </a:lnTo>
                  <a:cubicBezTo>
                    <a:pt x="2016722" y="0"/>
                    <a:pt x="2039550" y="22828"/>
                    <a:pt x="2039550" y="50987"/>
                  </a:cubicBezTo>
                  <a:lnTo>
                    <a:pt x="2039550" y="1563370"/>
                  </a:lnTo>
                  <a:cubicBezTo>
                    <a:pt x="2039550" y="1576892"/>
                    <a:pt x="2034178" y="1589861"/>
                    <a:pt x="2024616" y="1599423"/>
                  </a:cubicBezTo>
                  <a:cubicBezTo>
                    <a:pt x="2015055" y="1608985"/>
                    <a:pt x="2002086" y="1614357"/>
                    <a:pt x="1988563" y="1614357"/>
                  </a:cubicBezTo>
                  <a:lnTo>
                    <a:pt x="50987" y="1614357"/>
                  </a:lnTo>
                  <a:cubicBezTo>
                    <a:pt x="22828" y="1614357"/>
                    <a:pt x="0" y="1591529"/>
                    <a:pt x="0" y="1563370"/>
                  </a:cubicBezTo>
                  <a:lnTo>
                    <a:pt x="0" y="50987"/>
                  </a:lnTo>
                  <a:cubicBezTo>
                    <a:pt x="0" y="22828"/>
                    <a:pt x="22828" y="0"/>
                    <a:pt x="50987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2039550" cy="1709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13447" y="5057775"/>
            <a:ext cx="6680259" cy="323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Designing Alternative Life Scenarios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Reality-tested Career options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Ultimate Career Skill for the evolving labor market is Continuous Learning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Research on labor market trends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Opportunity Spotting for Next  Career Moves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34007" y="3748727"/>
            <a:ext cx="2092325" cy="679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4000" b="1" spc="-244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Outputs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30407" y="5057775"/>
            <a:ext cx="7058080" cy="422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Target Roles or Professional Fields Short list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Three viable career paths 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Patterns recognition in professional journey, enabling career decisions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Proactive mindset for managing future career 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Labor market research summary with trend analysis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Emerging career opportunities evaluation</a:t>
            </a:r>
          </a:p>
        </p:txBody>
      </p:sp>
      <p:sp>
        <p:nvSpPr>
          <p:cNvPr id="17" name="TextBox 17"/>
          <p:cNvSpPr txBox="1"/>
          <p:nvPr/>
        </p:nvSpPr>
        <p:spPr>
          <a:xfrm rot="-5400000">
            <a:off x="-2120377" y="6082928"/>
            <a:ext cx="5515775" cy="112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6"/>
              </a:lnSpc>
              <a:spcBef>
                <a:spcPct val="0"/>
              </a:spcBef>
            </a:pPr>
            <a:r>
              <a:rPr lang="en-US" sz="6590" b="1" spc="1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CareerDrive</a:t>
            </a:r>
          </a:p>
        </p:txBody>
      </p:sp>
      <p:sp>
        <p:nvSpPr>
          <p:cNvPr id="18" name="Freeform 18"/>
          <p:cNvSpPr/>
          <p:nvPr/>
        </p:nvSpPr>
        <p:spPr>
          <a:xfrm flipH="1">
            <a:off x="-643541" y="1168205"/>
            <a:ext cx="2175010" cy="2186939"/>
          </a:xfrm>
          <a:custGeom>
            <a:avLst/>
            <a:gdLst/>
            <a:ahLst/>
            <a:cxnLst/>
            <a:rect l="l" t="t" r="r" b="b"/>
            <a:pathLst>
              <a:path w="2175010" h="2186939">
                <a:moveTo>
                  <a:pt x="2175011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1" y="2186939"/>
                </a:lnTo>
                <a:lnTo>
                  <a:pt x="217501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761859" y="1787012"/>
            <a:ext cx="3357741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000"/>
              </a:lnSpc>
              <a:spcBef>
                <a:spcPct val="0"/>
              </a:spcBef>
            </a:pPr>
            <a:r>
              <a:rPr lang="en-US" sz="5000" b="1" spc="-3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Curriculum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96139" y="1430028"/>
            <a:ext cx="10792046" cy="167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00"/>
              </a:lnSpc>
            </a:pPr>
            <a:r>
              <a:rPr lang="en-US" sz="6000" spc="-36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Life Design</a:t>
            </a:r>
          </a:p>
          <a:p>
            <a:pPr marL="0" lvl="0" indent="0" algn="r">
              <a:lnSpc>
                <a:spcPts val="4900"/>
              </a:lnSpc>
              <a:spcBef>
                <a:spcPct val="0"/>
              </a:spcBef>
            </a:pPr>
            <a:r>
              <a:rPr lang="en-US" sz="3500" spc="-21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 Agility: Building Your Adaptive Mindset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86806" y="3707887"/>
            <a:ext cx="2142594" cy="669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243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In details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9275" y="380627"/>
            <a:ext cx="906125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94016" y="380805"/>
            <a:ext cx="195589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Professional Fit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59516" y="380627"/>
            <a:ext cx="198715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Self-awareness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56269" y="380627"/>
            <a:ext cx="230838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Self-Management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74253" y="380627"/>
            <a:ext cx="135118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Mentoring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1744703" y="174273"/>
            <a:ext cx="1924695" cy="790533"/>
            <a:chOff x="0" y="0"/>
            <a:chExt cx="506916" cy="20820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06916" cy="208206"/>
            </a:xfrm>
            <a:custGeom>
              <a:avLst/>
              <a:gdLst/>
              <a:ahLst/>
              <a:cxnLst/>
              <a:rect l="l" t="t" r="r" b="b"/>
              <a:pathLst>
                <a:path w="506916" h="208206">
                  <a:moveTo>
                    <a:pt x="104103" y="0"/>
                  </a:moveTo>
                  <a:lnTo>
                    <a:pt x="402812" y="0"/>
                  </a:lnTo>
                  <a:cubicBezTo>
                    <a:pt x="430422" y="0"/>
                    <a:pt x="456901" y="10968"/>
                    <a:pt x="476424" y="30491"/>
                  </a:cubicBezTo>
                  <a:cubicBezTo>
                    <a:pt x="495948" y="50014"/>
                    <a:pt x="506916" y="76493"/>
                    <a:pt x="506916" y="104103"/>
                  </a:cubicBezTo>
                  <a:lnTo>
                    <a:pt x="506916" y="104103"/>
                  </a:lnTo>
                  <a:cubicBezTo>
                    <a:pt x="506916" y="161598"/>
                    <a:pt x="460307" y="208206"/>
                    <a:pt x="402812" y="208206"/>
                  </a:cubicBezTo>
                  <a:lnTo>
                    <a:pt x="104103" y="208206"/>
                  </a:lnTo>
                  <a:cubicBezTo>
                    <a:pt x="46609" y="208206"/>
                    <a:pt x="0" y="161598"/>
                    <a:pt x="0" y="104103"/>
                  </a:cubicBezTo>
                  <a:lnTo>
                    <a:pt x="0" y="104103"/>
                  </a:lnTo>
                  <a:cubicBezTo>
                    <a:pt x="0" y="46609"/>
                    <a:pt x="46609" y="0"/>
                    <a:pt x="104103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0"/>
              <a:ext cx="506916" cy="303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897856" y="380805"/>
            <a:ext cx="1589544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4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Life Design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043154" y="380627"/>
            <a:ext cx="1577845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 skills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174849" y="380805"/>
            <a:ext cx="175117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Employability</a:t>
            </a:r>
          </a:p>
        </p:txBody>
      </p:sp>
      <p:sp>
        <p:nvSpPr>
          <p:cNvPr id="22" name="Freeform 33">
            <a:extLst>
              <a:ext uri="{FF2B5EF4-FFF2-40B4-BE49-F238E27FC236}">
                <a16:creationId xmlns:a16="http://schemas.microsoft.com/office/drawing/2014/main" id="{65B3AE19-70EC-A40F-16F5-1CDE051B585D}"/>
              </a:ext>
            </a:extLst>
          </p:cNvPr>
          <p:cNvSpPr/>
          <p:nvPr/>
        </p:nvSpPr>
        <p:spPr>
          <a:xfrm flipH="1">
            <a:off x="16002000" y="1181100"/>
            <a:ext cx="2175010" cy="2186939"/>
          </a:xfrm>
          <a:custGeom>
            <a:avLst/>
            <a:gdLst/>
            <a:ahLst/>
            <a:cxnLst/>
            <a:rect l="l" t="t" r="r" b="b"/>
            <a:pathLst>
              <a:path w="2175010" h="2186939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1618" y="4593935"/>
            <a:ext cx="7743917" cy="5117359"/>
            <a:chOff x="0" y="0"/>
            <a:chExt cx="2039550" cy="13477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9550" cy="1347782"/>
            </a:xfrm>
            <a:custGeom>
              <a:avLst/>
              <a:gdLst/>
              <a:ahLst/>
              <a:cxnLst/>
              <a:rect l="l" t="t" r="r" b="b"/>
              <a:pathLst>
                <a:path w="2039550" h="1347782">
                  <a:moveTo>
                    <a:pt x="50987" y="0"/>
                  </a:moveTo>
                  <a:lnTo>
                    <a:pt x="1988563" y="0"/>
                  </a:lnTo>
                  <a:cubicBezTo>
                    <a:pt x="2016722" y="0"/>
                    <a:pt x="2039550" y="22828"/>
                    <a:pt x="2039550" y="50987"/>
                  </a:cubicBezTo>
                  <a:lnTo>
                    <a:pt x="2039550" y="1296795"/>
                  </a:lnTo>
                  <a:cubicBezTo>
                    <a:pt x="2039550" y="1310317"/>
                    <a:pt x="2034178" y="1323286"/>
                    <a:pt x="2024616" y="1332848"/>
                  </a:cubicBezTo>
                  <a:cubicBezTo>
                    <a:pt x="2015055" y="1342410"/>
                    <a:pt x="2002086" y="1347782"/>
                    <a:pt x="1988563" y="1347782"/>
                  </a:cubicBezTo>
                  <a:lnTo>
                    <a:pt x="50987" y="1347782"/>
                  </a:lnTo>
                  <a:cubicBezTo>
                    <a:pt x="22828" y="1347782"/>
                    <a:pt x="0" y="1324954"/>
                    <a:pt x="0" y="1296795"/>
                  </a:cubicBezTo>
                  <a:lnTo>
                    <a:pt x="0" y="50987"/>
                  </a:lnTo>
                  <a:cubicBezTo>
                    <a:pt x="0" y="22828"/>
                    <a:pt x="22828" y="0"/>
                    <a:pt x="50987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039550" cy="1443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101810" y="3581784"/>
            <a:ext cx="7756719" cy="6129510"/>
            <a:chOff x="0" y="0"/>
            <a:chExt cx="2042922" cy="16143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42922" cy="1614357"/>
            </a:xfrm>
            <a:custGeom>
              <a:avLst/>
              <a:gdLst/>
              <a:ahLst/>
              <a:cxnLst/>
              <a:rect l="l" t="t" r="r" b="b"/>
              <a:pathLst>
                <a:path w="2042922" h="1614357">
                  <a:moveTo>
                    <a:pt x="50903" y="0"/>
                  </a:moveTo>
                  <a:lnTo>
                    <a:pt x="1992019" y="0"/>
                  </a:lnTo>
                  <a:cubicBezTo>
                    <a:pt x="2005519" y="0"/>
                    <a:pt x="2018467" y="5363"/>
                    <a:pt x="2028013" y="14909"/>
                  </a:cubicBezTo>
                  <a:cubicBezTo>
                    <a:pt x="2037559" y="24455"/>
                    <a:pt x="2042922" y="37402"/>
                    <a:pt x="2042922" y="50903"/>
                  </a:cubicBezTo>
                  <a:lnTo>
                    <a:pt x="2042922" y="1563454"/>
                  </a:lnTo>
                  <a:cubicBezTo>
                    <a:pt x="2042922" y="1576954"/>
                    <a:pt x="2037559" y="1589901"/>
                    <a:pt x="2028013" y="1599447"/>
                  </a:cubicBezTo>
                  <a:cubicBezTo>
                    <a:pt x="2018467" y="1608994"/>
                    <a:pt x="2005519" y="1614357"/>
                    <a:pt x="1992019" y="1614357"/>
                  </a:cubicBezTo>
                  <a:lnTo>
                    <a:pt x="50903" y="1614357"/>
                  </a:lnTo>
                  <a:cubicBezTo>
                    <a:pt x="37402" y="1614357"/>
                    <a:pt x="24455" y="1608994"/>
                    <a:pt x="14909" y="1599447"/>
                  </a:cubicBezTo>
                  <a:cubicBezTo>
                    <a:pt x="5363" y="1589901"/>
                    <a:pt x="0" y="1576954"/>
                    <a:pt x="0" y="1563454"/>
                  </a:cubicBezTo>
                  <a:lnTo>
                    <a:pt x="0" y="50903"/>
                  </a:lnTo>
                  <a:cubicBezTo>
                    <a:pt x="0" y="37402"/>
                    <a:pt x="5363" y="24455"/>
                    <a:pt x="14909" y="14909"/>
                  </a:cubicBezTo>
                  <a:cubicBezTo>
                    <a:pt x="24455" y="5363"/>
                    <a:pt x="37402" y="0"/>
                    <a:pt x="50903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2042922" cy="1709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101810" y="4575474"/>
            <a:ext cx="7756719" cy="5135819"/>
            <a:chOff x="0" y="0"/>
            <a:chExt cx="2042922" cy="13526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42922" cy="1352644"/>
            </a:xfrm>
            <a:custGeom>
              <a:avLst/>
              <a:gdLst/>
              <a:ahLst/>
              <a:cxnLst/>
              <a:rect l="l" t="t" r="r" b="b"/>
              <a:pathLst>
                <a:path w="2042922" h="1352644">
                  <a:moveTo>
                    <a:pt x="50903" y="0"/>
                  </a:moveTo>
                  <a:lnTo>
                    <a:pt x="1992019" y="0"/>
                  </a:lnTo>
                  <a:cubicBezTo>
                    <a:pt x="2005519" y="0"/>
                    <a:pt x="2018467" y="5363"/>
                    <a:pt x="2028013" y="14909"/>
                  </a:cubicBezTo>
                  <a:cubicBezTo>
                    <a:pt x="2037559" y="24455"/>
                    <a:pt x="2042922" y="37402"/>
                    <a:pt x="2042922" y="50903"/>
                  </a:cubicBezTo>
                  <a:lnTo>
                    <a:pt x="2042922" y="1301741"/>
                  </a:lnTo>
                  <a:cubicBezTo>
                    <a:pt x="2042922" y="1315241"/>
                    <a:pt x="2037559" y="1328189"/>
                    <a:pt x="2028013" y="1337735"/>
                  </a:cubicBezTo>
                  <a:cubicBezTo>
                    <a:pt x="2018467" y="1347281"/>
                    <a:pt x="2005519" y="1352644"/>
                    <a:pt x="1992019" y="1352644"/>
                  </a:cubicBezTo>
                  <a:lnTo>
                    <a:pt x="50903" y="1352644"/>
                  </a:lnTo>
                  <a:cubicBezTo>
                    <a:pt x="37402" y="1352644"/>
                    <a:pt x="24455" y="1347281"/>
                    <a:pt x="14909" y="1337735"/>
                  </a:cubicBezTo>
                  <a:cubicBezTo>
                    <a:pt x="5363" y="1328189"/>
                    <a:pt x="0" y="1315241"/>
                    <a:pt x="0" y="1301741"/>
                  </a:cubicBezTo>
                  <a:lnTo>
                    <a:pt x="0" y="50903"/>
                  </a:lnTo>
                  <a:cubicBezTo>
                    <a:pt x="0" y="37402"/>
                    <a:pt x="5363" y="24455"/>
                    <a:pt x="14909" y="14909"/>
                  </a:cubicBezTo>
                  <a:cubicBezTo>
                    <a:pt x="24455" y="5363"/>
                    <a:pt x="37402" y="0"/>
                    <a:pt x="50903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042922" cy="1447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81618" y="3581784"/>
            <a:ext cx="7743917" cy="6129510"/>
            <a:chOff x="0" y="0"/>
            <a:chExt cx="2039550" cy="16143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39550" cy="1614357"/>
            </a:xfrm>
            <a:custGeom>
              <a:avLst/>
              <a:gdLst/>
              <a:ahLst/>
              <a:cxnLst/>
              <a:rect l="l" t="t" r="r" b="b"/>
              <a:pathLst>
                <a:path w="2039550" h="1614357">
                  <a:moveTo>
                    <a:pt x="50987" y="0"/>
                  </a:moveTo>
                  <a:lnTo>
                    <a:pt x="1988563" y="0"/>
                  </a:lnTo>
                  <a:cubicBezTo>
                    <a:pt x="2016722" y="0"/>
                    <a:pt x="2039550" y="22828"/>
                    <a:pt x="2039550" y="50987"/>
                  </a:cubicBezTo>
                  <a:lnTo>
                    <a:pt x="2039550" y="1563370"/>
                  </a:lnTo>
                  <a:cubicBezTo>
                    <a:pt x="2039550" y="1576892"/>
                    <a:pt x="2034178" y="1589861"/>
                    <a:pt x="2024616" y="1599423"/>
                  </a:cubicBezTo>
                  <a:cubicBezTo>
                    <a:pt x="2015055" y="1608985"/>
                    <a:pt x="2002086" y="1614357"/>
                    <a:pt x="1988563" y="1614357"/>
                  </a:cubicBezTo>
                  <a:lnTo>
                    <a:pt x="50987" y="1614357"/>
                  </a:lnTo>
                  <a:cubicBezTo>
                    <a:pt x="22828" y="1614357"/>
                    <a:pt x="0" y="1591529"/>
                    <a:pt x="0" y="1563370"/>
                  </a:cubicBezTo>
                  <a:lnTo>
                    <a:pt x="0" y="50987"/>
                  </a:lnTo>
                  <a:cubicBezTo>
                    <a:pt x="0" y="22828"/>
                    <a:pt x="22828" y="0"/>
                    <a:pt x="50987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2039550" cy="1709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386269" y="4791684"/>
            <a:ext cx="6334615" cy="463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Career Currency: Hard Skills vs Transferable Skills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Learning Agility as Core Adaptive Capability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Skills for Career Navigation and Growth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Development plan addressing both technical and transferable skills.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Low-risk experiments to test Career Assumption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94183" y="3731903"/>
            <a:ext cx="2017217" cy="679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4000" b="1" spc="-244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Outputs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39423" y="4791684"/>
            <a:ext cx="6619877" cy="3702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Current and future skill gaps relative to target roles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Reframe challenges into learning opportunities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Decision-making plan to evaluate career choices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Start Self-directed Upskilling for Future job (projects, volunteering)</a:t>
            </a:r>
          </a:p>
        </p:txBody>
      </p:sp>
      <p:sp>
        <p:nvSpPr>
          <p:cNvPr id="17" name="TextBox 17"/>
          <p:cNvSpPr txBox="1"/>
          <p:nvPr/>
        </p:nvSpPr>
        <p:spPr>
          <a:xfrm rot="-5400000">
            <a:off x="-2120377" y="6082928"/>
            <a:ext cx="5515775" cy="112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6"/>
              </a:lnSpc>
              <a:spcBef>
                <a:spcPct val="0"/>
              </a:spcBef>
            </a:pPr>
            <a:r>
              <a:rPr lang="en-US" sz="6590" b="1" spc="1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CareerDrive</a:t>
            </a:r>
          </a:p>
        </p:txBody>
      </p:sp>
      <p:sp>
        <p:nvSpPr>
          <p:cNvPr id="18" name="Freeform 18"/>
          <p:cNvSpPr/>
          <p:nvPr/>
        </p:nvSpPr>
        <p:spPr>
          <a:xfrm flipH="1">
            <a:off x="-643541" y="1168205"/>
            <a:ext cx="2175010" cy="2186939"/>
          </a:xfrm>
          <a:custGeom>
            <a:avLst/>
            <a:gdLst/>
            <a:ahLst/>
            <a:cxnLst/>
            <a:rect l="l" t="t" r="r" b="b"/>
            <a:pathLst>
              <a:path w="2175010" h="2186939">
                <a:moveTo>
                  <a:pt x="2175011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1" y="2186939"/>
                </a:lnTo>
                <a:lnTo>
                  <a:pt x="217501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761859" y="1787012"/>
            <a:ext cx="3357741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000"/>
              </a:lnSpc>
              <a:spcBef>
                <a:spcPct val="0"/>
              </a:spcBef>
            </a:pPr>
            <a:r>
              <a:rPr lang="en-US" sz="5000" b="1" spc="-3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Curriculum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96139" y="1430028"/>
            <a:ext cx="10792046" cy="237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00"/>
              </a:lnSpc>
            </a:pPr>
            <a:r>
              <a:rPr lang="en-US" sz="6000" spc="-36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 Management Skills</a:t>
            </a:r>
          </a:p>
          <a:p>
            <a:pPr algn="r">
              <a:lnSpc>
                <a:spcPts val="4900"/>
              </a:lnSpc>
            </a:pPr>
            <a:r>
              <a:rPr lang="en-US" sz="3500" spc="-21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00" i="1" spc="-21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Face dynamic careers with new yourself every time</a:t>
            </a:r>
          </a:p>
          <a:p>
            <a:pPr marL="0" lvl="0" indent="0" algn="r">
              <a:lnSpc>
                <a:spcPts val="5599"/>
              </a:lnSpc>
              <a:spcBef>
                <a:spcPct val="0"/>
              </a:spcBef>
            </a:pPr>
            <a:endParaRPr lang="en-US" sz="3500" spc="-213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486806" y="3707887"/>
            <a:ext cx="2142594" cy="669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243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In details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9275" y="380627"/>
            <a:ext cx="906125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94016" y="380805"/>
            <a:ext cx="195589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Professional Fit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59516" y="380627"/>
            <a:ext cx="198715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Self-awareness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56269" y="380627"/>
            <a:ext cx="230838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Self-Management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74253" y="380627"/>
            <a:ext cx="135118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Mentoring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935033" y="380805"/>
            <a:ext cx="1552367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Life Design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3790453" y="174273"/>
            <a:ext cx="2027497" cy="790533"/>
            <a:chOff x="0" y="0"/>
            <a:chExt cx="533991" cy="20820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33991" cy="208206"/>
            </a:xfrm>
            <a:custGeom>
              <a:avLst/>
              <a:gdLst/>
              <a:ahLst/>
              <a:cxnLst/>
              <a:rect l="l" t="t" r="r" b="b"/>
              <a:pathLst>
                <a:path w="533991" h="208206">
                  <a:moveTo>
                    <a:pt x="104103" y="0"/>
                  </a:moveTo>
                  <a:lnTo>
                    <a:pt x="429888" y="0"/>
                  </a:lnTo>
                  <a:cubicBezTo>
                    <a:pt x="457498" y="0"/>
                    <a:pt x="483977" y="10968"/>
                    <a:pt x="503500" y="30491"/>
                  </a:cubicBezTo>
                  <a:cubicBezTo>
                    <a:pt x="523023" y="50014"/>
                    <a:pt x="533991" y="76493"/>
                    <a:pt x="533991" y="104103"/>
                  </a:cubicBezTo>
                  <a:lnTo>
                    <a:pt x="533991" y="104103"/>
                  </a:lnTo>
                  <a:cubicBezTo>
                    <a:pt x="533991" y="161598"/>
                    <a:pt x="487382" y="208206"/>
                    <a:pt x="429888" y="208206"/>
                  </a:cubicBezTo>
                  <a:lnTo>
                    <a:pt x="104103" y="208206"/>
                  </a:lnTo>
                  <a:cubicBezTo>
                    <a:pt x="46609" y="208206"/>
                    <a:pt x="0" y="161598"/>
                    <a:pt x="0" y="104103"/>
                  </a:cubicBezTo>
                  <a:lnTo>
                    <a:pt x="0" y="104103"/>
                  </a:lnTo>
                  <a:cubicBezTo>
                    <a:pt x="0" y="46609"/>
                    <a:pt x="46609" y="0"/>
                    <a:pt x="104103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0"/>
              <a:ext cx="533991" cy="303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3990439" y="380627"/>
            <a:ext cx="1630561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4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Career skills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174849" y="380805"/>
            <a:ext cx="175117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Employability</a:t>
            </a:r>
          </a:p>
        </p:txBody>
      </p:sp>
      <p:sp>
        <p:nvSpPr>
          <p:cNvPr id="22" name="Freeform 33">
            <a:extLst>
              <a:ext uri="{FF2B5EF4-FFF2-40B4-BE49-F238E27FC236}">
                <a16:creationId xmlns:a16="http://schemas.microsoft.com/office/drawing/2014/main" id="{E6D0F21B-8C52-A8CF-882A-0FE817CE3CD2}"/>
              </a:ext>
            </a:extLst>
          </p:cNvPr>
          <p:cNvSpPr/>
          <p:nvPr/>
        </p:nvSpPr>
        <p:spPr>
          <a:xfrm flipH="1">
            <a:off x="16002000" y="1181100"/>
            <a:ext cx="2175010" cy="2186939"/>
          </a:xfrm>
          <a:custGeom>
            <a:avLst/>
            <a:gdLst/>
            <a:ahLst/>
            <a:cxnLst/>
            <a:rect l="l" t="t" r="r" b="b"/>
            <a:pathLst>
              <a:path w="2175010" h="2186939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1618" y="4593935"/>
            <a:ext cx="7743917" cy="5117359"/>
            <a:chOff x="0" y="0"/>
            <a:chExt cx="2039550" cy="13477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9550" cy="1347782"/>
            </a:xfrm>
            <a:custGeom>
              <a:avLst/>
              <a:gdLst/>
              <a:ahLst/>
              <a:cxnLst/>
              <a:rect l="l" t="t" r="r" b="b"/>
              <a:pathLst>
                <a:path w="2039550" h="1347782">
                  <a:moveTo>
                    <a:pt x="50987" y="0"/>
                  </a:moveTo>
                  <a:lnTo>
                    <a:pt x="1988563" y="0"/>
                  </a:lnTo>
                  <a:cubicBezTo>
                    <a:pt x="2016722" y="0"/>
                    <a:pt x="2039550" y="22828"/>
                    <a:pt x="2039550" y="50987"/>
                  </a:cubicBezTo>
                  <a:lnTo>
                    <a:pt x="2039550" y="1296795"/>
                  </a:lnTo>
                  <a:cubicBezTo>
                    <a:pt x="2039550" y="1310317"/>
                    <a:pt x="2034178" y="1323286"/>
                    <a:pt x="2024616" y="1332848"/>
                  </a:cubicBezTo>
                  <a:cubicBezTo>
                    <a:pt x="2015055" y="1342410"/>
                    <a:pt x="2002086" y="1347782"/>
                    <a:pt x="1988563" y="1347782"/>
                  </a:cubicBezTo>
                  <a:lnTo>
                    <a:pt x="50987" y="1347782"/>
                  </a:lnTo>
                  <a:cubicBezTo>
                    <a:pt x="22828" y="1347782"/>
                    <a:pt x="0" y="1324954"/>
                    <a:pt x="0" y="1296795"/>
                  </a:cubicBezTo>
                  <a:lnTo>
                    <a:pt x="0" y="50987"/>
                  </a:lnTo>
                  <a:cubicBezTo>
                    <a:pt x="0" y="22828"/>
                    <a:pt x="22828" y="0"/>
                    <a:pt x="50987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039550" cy="1443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101810" y="3581784"/>
            <a:ext cx="7756719" cy="6129510"/>
            <a:chOff x="0" y="0"/>
            <a:chExt cx="2042922" cy="16143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42922" cy="1614357"/>
            </a:xfrm>
            <a:custGeom>
              <a:avLst/>
              <a:gdLst/>
              <a:ahLst/>
              <a:cxnLst/>
              <a:rect l="l" t="t" r="r" b="b"/>
              <a:pathLst>
                <a:path w="2042922" h="1614357">
                  <a:moveTo>
                    <a:pt x="50903" y="0"/>
                  </a:moveTo>
                  <a:lnTo>
                    <a:pt x="1992019" y="0"/>
                  </a:lnTo>
                  <a:cubicBezTo>
                    <a:pt x="2005519" y="0"/>
                    <a:pt x="2018467" y="5363"/>
                    <a:pt x="2028013" y="14909"/>
                  </a:cubicBezTo>
                  <a:cubicBezTo>
                    <a:pt x="2037559" y="24455"/>
                    <a:pt x="2042922" y="37402"/>
                    <a:pt x="2042922" y="50903"/>
                  </a:cubicBezTo>
                  <a:lnTo>
                    <a:pt x="2042922" y="1563454"/>
                  </a:lnTo>
                  <a:cubicBezTo>
                    <a:pt x="2042922" y="1576954"/>
                    <a:pt x="2037559" y="1589901"/>
                    <a:pt x="2028013" y="1599447"/>
                  </a:cubicBezTo>
                  <a:cubicBezTo>
                    <a:pt x="2018467" y="1608994"/>
                    <a:pt x="2005519" y="1614357"/>
                    <a:pt x="1992019" y="1614357"/>
                  </a:cubicBezTo>
                  <a:lnTo>
                    <a:pt x="50903" y="1614357"/>
                  </a:lnTo>
                  <a:cubicBezTo>
                    <a:pt x="37402" y="1614357"/>
                    <a:pt x="24455" y="1608994"/>
                    <a:pt x="14909" y="1599447"/>
                  </a:cubicBezTo>
                  <a:cubicBezTo>
                    <a:pt x="5363" y="1589901"/>
                    <a:pt x="0" y="1576954"/>
                    <a:pt x="0" y="1563454"/>
                  </a:cubicBezTo>
                  <a:lnTo>
                    <a:pt x="0" y="50903"/>
                  </a:lnTo>
                  <a:cubicBezTo>
                    <a:pt x="0" y="37402"/>
                    <a:pt x="5363" y="24455"/>
                    <a:pt x="14909" y="14909"/>
                  </a:cubicBezTo>
                  <a:cubicBezTo>
                    <a:pt x="24455" y="5363"/>
                    <a:pt x="37402" y="0"/>
                    <a:pt x="50903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2042922" cy="1709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101810" y="4575474"/>
            <a:ext cx="7756719" cy="5135819"/>
            <a:chOff x="0" y="0"/>
            <a:chExt cx="2042922" cy="13526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42922" cy="1352644"/>
            </a:xfrm>
            <a:custGeom>
              <a:avLst/>
              <a:gdLst/>
              <a:ahLst/>
              <a:cxnLst/>
              <a:rect l="l" t="t" r="r" b="b"/>
              <a:pathLst>
                <a:path w="2042922" h="1352644">
                  <a:moveTo>
                    <a:pt x="50903" y="0"/>
                  </a:moveTo>
                  <a:lnTo>
                    <a:pt x="1992019" y="0"/>
                  </a:lnTo>
                  <a:cubicBezTo>
                    <a:pt x="2005519" y="0"/>
                    <a:pt x="2018467" y="5363"/>
                    <a:pt x="2028013" y="14909"/>
                  </a:cubicBezTo>
                  <a:cubicBezTo>
                    <a:pt x="2037559" y="24455"/>
                    <a:pt x="2042922" y="37402"/>
                    <a:pt x="2042922" y="50903"/>
                  </a:cubicBezTo>
                  <a:lnTo>
                    <a:pt x="2042922" y="1301741"/>
                  </a:lnTo>
                  <a:cubicBezTo>
                    <a:pt x="2042922" y="1315241"/>
                    <a:pt x="2037559" y="1328189"/>
                    <a:pt x="2028013" y="1337735"/>
                  </a:cubicBezTo>
                  <a:cubicBezTo>
                    <a:pt x="2018467" y="1347281"/>
                    <a:pt x="2005519" y="1352644"/>
                    <a:pt x="1992019" y="1352644"/>
                  </a:cubicBezTo>
                  <a:lnTo>
                    <a:pt x="50903" y="1352644"/>
                  </a:lnTo>
                  <a:cubicBezTo>
                    <a:pt x="37402" y="1352644"/>
                    <a:pt x="24455" y="1347281"/>
                    <a:pt x="14909" y="1337735"/>
                  </a:cubicBezTo>
                  <a:cubicBezTo>
                    <a:pt x="5363" y="1328189"/>
                    <a:pt x="0" y="1315241"/>
                    <a:pt x="0" y="1301741"/>
                  </a:cubicBezTo>
                  <a:lnTo>
                    <a:pt x="0" y="50903"/>
                  </a:lnTo>
                  <a:cubicBezTo>
                    <a:pt x="0" y="37402"/>
                    <a:pt x="5363" y="24455"/>
                    <a:pt x="14909" y="14909"/>
                  </a:cubicBezTo>
                  <a:cubicBezTo>
                    <a:pt x="24455" y="5363"/>
                    <a:pt x="37402" y="0"/>
                    <a:pt x="50903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042922" cy="1447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81618" y="3581784"/>
            <a:ext cx="7743917" cy="6129510"/>
            <a:chOff x="0" y="0"/>
            <a:chExt cx="2039550" cy="16143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39550" cy="1614357"/>
            </a:xfrm>
            <a:custGeom>
              <a:avLst/>
              <a:gdLst/>
              <a:ahLst/>
              <a:cxnLst/>
              <a:rect l="l" t="t" r="r" b="b"/>
              <a:pathLst>
                <a:path w="2039550" h="1614357">
                  <a:moveTo>
                    <a:pt x="50987" y="0"/>
                  </a:moveTo>
                  <a:lnTo>
                    <a:pt x="1988563" y="0"/>
                  </a:lnTo>
                  <a:cubicBezTo>
                    <a:pt x="2016722" y="0"/>
                    <a:pt x="2039550" y="22828"/>
                    <a:pt x="2039550" y="50987"/>
                  </a:cubicBezTo>
                  <a:lnTo>
                    <a:pt x="2039550" y="1563370"/>
                  </a:lnTo>
                  <a:cubicBezTo>
                    <a:pt x="2039550" y="1576892"/>
                    <a:pt x="2034178" y="1589861"/>
                    <a:pt x="2024616" y="1599423"/>
                  </a:cubicBezTo>
                  <a:cubicBezTo>
                    <a:pt x="2015055" y="1608985"/>
                    <a:pt x="2002086" y="1614357"/>
                    <a:pt x="1988563" y="1614357"/>
                  </a:cubicBezTo>
                  <a:lnTo>
                    <a:pt x="50987" y="1614357"/>
                  </a:lnTo>
                  <a:cubicBezTo>
                    <a:pt x="22828" y="1614357"/>
                    <a:pt x="0" y="1591529"/>
                    <a:pt x="0" y="1563370"/>
                  </a:cubicBezTo>
                  <a:lnTo>
                    <a:pt x="0" y="50987"/>
                  </a:lnTo>
                  <a:cubicBezTo>
                    <a:pt x="0" y="22828"/>
                    <a:pt x="22828" y="0"/>
                    <a:pt x="50987" y="0"/>
                  </a:cubicBezTo>
                  <a:close/>
                </a:path>
              </a:pathLst>
            </a:custGeom>
            <a:ln w="38100" cap="rnd">
              <a:solidFill>
                <a:srgbClr val="87D6FD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2039550" cy="1709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934007" y="3713439"/>
            <a:ext cx="2092325" cy="66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60"/>
              </a:lnSpc>
              <a:spcBef>
                <a:spcPct val="0"/>
              </a:spcBef>
            </a:pPr>
            <a:r>
              <a:rPr lang="en-US" sz="3900" b="1" spc="-237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Outputs</a:t>
            </a:r>
          </a:p>
        </p:txBody>
      </p:sp>
      <p:sp>
        <p:nvSpPr>
          <p:cNvPr id="15" name="TextBox 15"/>
          <p:cNvSpPr txBox="1"/>
          <p:nvPr/>
        </p:nvSpPr>
        <p:spPr>
          <a:xfrm rot="-5400000">
            <a:off x="-2120377" y="6082928"/>
            <a:ext cx="5515775" cy="112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6"/>
              </a:lnSpc>
              <a:spcBef>
                <a:spcPct val="0"/>
              </a:spcBef>
            </a:pPr>
            <a:r>
              <a:rPr lang="en-US" sz="6590" b="1" spc="1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CareerDrive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97463" y="5057775"/>
            <a:ext cx="5965412" cy="2769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Network map with outreach targets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Ability to act intentionally rather than reactively for career decisions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Navigation toolkit for career decisions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Confidence in Career Choices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32702" y="5057775"/>
            <a:ext cx="6152035" cy="3702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Methods and Tools for Employment.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Network and Relationship Capital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Role Model’s impact on Careers. Mentoring.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Informational Interviews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Personal marketing. CV.</a:t>
            </a:r>
          </a:p>
          <a:p>
            <a:pPr marL="496569" lvl="1" indent="-248284" algn="l">
              <a:lnSpc>
                <a:spcPts val="3679"/>
              </a:lnSpc>
              <a:buFont typeface="Arial"/>
              <a:buChar char="•"/>
            </a:pPr>
            <a:r>
              <a:rPr lang="en-US" sz="2299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Careers in different organizations</a:t>
            </a:r>
          </a:p>
          <a:p>
            <a:pPr algn="l">
              <a:lnSpc>
                <a:spcPts val="3679"/>
              </a:lnSpc>
            </a:pPr>
            <a:endParaRPr lang="en-US" sz="2299" spc="4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Freeform 18"/>
          <p:cNvSpPr/>
          <p:nvPr/>
        </p:nvSpPr>
        <p:spPr>
          <a:xfrm flipH="1">
            <a:off x="-643541" y="1168205"/>
            <a:ext cx="2175010" cy="2186939"/>
          </a:xfrm>
          <a:custGeom>
            <a:avLst/>
            <a:gdLst/>
            <a:ahLst/>
            <a:cxnLst/>
            <a:rect l="l" t="t" r="r" b="b"/>
            <a:pathLst>
              <a:path w="2175010" h="2186939">
                <a:moveTo>
                  <a:pt x="2175011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1" y="2186939"/>
                </a:lnTo>
                <a:lnTo>
                  <a:pt x="217501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761859" y="1787012"/>
            <a:ext cx="3357741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000"/>
              </a:lnSpc>
              <a:spcBef>
                <a:spcPct val="0"/>
              </a:spcBef>
            </a:pPr>
            <a:r>
              <a:rPr lang="en-US" sz="5000" b="1" spc="-3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Curriculum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96139" y="1430028"/>
            <a:ext cx="10792046" cy="167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00"/>
              </a:lnSpc>
            </a:pPr>
            <a:r>
              <a:rPr lang="en-US" sz="6000" spc="-36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Enhanced Employability</a:t>
            </a:r>
          </a:p>
          <a:p>
            <a:pPr marL="0" lvl="0" indent="0" algn="r">
              <a:lnSpc>
                <a:spcPts val="4900"/>
              </a:lnSpc>
              <a:spcBef>
                <a:spcPct val="0"/>
              </a:spcBef>
            </a:pPr>
            <a:r>
              <a:rPr lang="en-US" sz="3500" i="1" spc="-21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Social capital and Personal marketing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86806" y="3707887"/>
            <a:ext cx="2142594" cy="669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243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In details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9275" y="380627"/>
            <a:ext cx="982325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94016" y="380805"/>
            <a:ext cx="195589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Professional Fit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59516" y="380627"/>
            <a:ext cx="198715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Self-awareness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56269" y="380627"/>
            <a:ext cx="230838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Self-Management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74253" y="380627"/>
            <a:ext cx="135118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Mentoring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935033" y="380805"/>
            <a:ext cx="1552367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Life Design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043154" y="380627"/>
            <a:ext cx="1577846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spc="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Career skills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5969550" y="174273"/>
            <a:ext cx="2191979" cy="790533"/>
            <a:chOff x="0" y="0"/>
            <a:chExt cx="577311" cy="20820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77311" cy="208206"/>
            </a:xfrm>
            <a:custGeom>
              <a:avLst/>
              <a:gdLst/>
              <a:ahLst/>
              <a:cxnLst/>
              <a:rect l="l" t="t" r="r" b="b"/>
              <a:pathLst>
                <a:path w="577311" h="208206">
                  <a:moveTo>
                    <a:pt x="104103" y="0"/>
                  </a:moveTo>
                  <a:lnTo>
                    <a:pt x="473208" y="0"/>
                  </a:lnTo>
                  <a:cubicBezTo>
                    <a:pt x="530703" y="0"/>
                    <a:pt x="577311" y="46609"/>
                    <a:pt x="577311" y="104103"/>
                  </a:cubicBezTo>
                  <a:lnTo>
                    <a:pt x="577311" y="104103"/>
                  </a:lnTo>
                  <a:cubicBezTo>
                    <a:pt x="577311" y="131713"/>
                    <a:pt x="566343" y="158192"/>
                    <a:pt x="546820" y="177715"/>
                  </a:cubicBezTo>
                  <a:cubicBezTo>
                    <a:pt x="527297" y="197238"/>
                    <a:pt x="500818" y="208206"/>
                    <a:pt x="473208" y="208206"/>
                  </a:cubicBezTo>
                  <a:lnTo>
                    <a:pt x="104103" y="208206"/>
                  </a:lnTo>
                  <a:cubicBezTo>
                    <a:pt x="46609" y="208206"/>
                    <a:pt x="0" y="161598"/>
                    <a:pt x="0" y="104103"/>
                  </a:cubicBezTo>
                  <a:lnTo>
                    <a:pt x="0" y="104103"/>
                  </a:lnTo>
                  <a:cubicBezTo>
                    <a:pt x="0" y="46609"/>
                    <a:pt x="46609" y="0"/>
                    <a:pt x="104103" y="0"/>
                  </a:cubicBezTo>
                  <a:close/>
                </a:path>
              </a:pathLst>
            </a:custGeom>
            <a:ln w="38100" cap="rnd">
              <a:solidFill>
                <a:srgbClr val="87D6FD"/>
              </a:solidFill>
              <a:prstDash val="solid"/>
              <a:round/>
            </a:ln>
          </p:spPr>
          <p:txBody>
            <a:bodyPr/>
            <a:lstStyle/>
            <a:p>
              <a:endParaRPr lang="ru-RU" dirty="0">
                <a:latin typeface="Montserrat" panose="00000500000000000000" pitchFamily="2" charset="-5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577311" cy="303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2"/>
                </a:lnSpc>
              </a:pPr>
              <a:endParaRPr dirty="0">
                <a:latin typeface="Montserrat" panose="00000500000000000000" pitchFamily="2" charset="-52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6131927" y="380805"/>
            <a:ext cx="1851273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4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Employability</a:t>
            </a:r>
          </a:p>
        </p:txBody>
      </p:sp>
      <p:sp>
        <p:nvSpPr>
          <p:cNvPr id="22" name="Freeform 33">
            <a:extLst>
              <a:ext uri="{FF2B5EF4-FFF2-40B4-BE49-F238E27FC236}">
                <a16:creationId xmlns:a16="http://schemas.microsoft.com/office/drawing/2014/main" id="{DBF17E44-9746-08B5-42FB-ED170BD8C472}"/>
              </a:ext>
            </a:extLst>
          </p:cNvPr>
          <p:cNvSpPr/>
          <p:nvPr/>
        </p:nvSpPr>
        <p:spPr>
          <a:xfrm flipH="1">
            <a:off x="16002000" y="1181100"/>
            <a:ext cx="2175010" cy="2186939"/>
          </a:xfrm>
          <a:custGeom>
            <a:avLst/>
            <a:gdLst/>
            <a:ahLst/>
            <a:cxnLst/>
            <a:rect l="l" t="t" r="r" b="b"/>
            <a:pathLst>
              <a:path w="2175010" h="2186939">
                <a:moveTo>
                  <a:pt x="2175010" y="0"/>
                </a:moveTo>
                <a:lnTo>
                  <a:pt x="0" y="0"/>
                </a:lnTo>
                <a:lnTo>
                  <a:pt x="0" y="2186939"/>
                </a:lnTo>
                <a:lnTo>
                  <a:pt x="2175010" y="2186939"/>
                </a:lnTo>
                <a:lnTo>
                  <a:pt x="21750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7331</TotalTime>
  <Words>1129</Words>
  <Application>Microsoft Macintosh PowerPoint</Application>
  <PresentationFormat>Произвольный</PresentationFormat>
  <Paragraphs>284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Montserrat</vt:lpstr>
      <vt:lpstr>Montserrat Bold</vt:lpstr>
      <vt:lpstr>Calibri</vt:lpstr>
      <vt:lpstr>Montserrat Heavy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CareerDrive_5</dc:title>
  <dc:creator>Даниил Родыгин</dc:creator>
  <cp:lastModifiedBy>Microsoft Office User</cp:lastModifiedBy>
  <cp:revision>22</cp:revision>
  <dcterms:created xsi:type="dcterms:W3CDTF">2006-08-16T00:00:00Z</dcterms:created>
  <dcterms:modified xsi:type="dcterms:W3CDTF">2026-05-31T18:09:50Z</dcterms:modified>
  <dc:identifier>DAG_JHooKiE</dc:identifier>
</cp:coreProperties>
</file>